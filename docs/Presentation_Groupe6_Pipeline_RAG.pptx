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43c53da-ee2a-0f53-5f83-3ece83fde766}">
          <p14:sldIdLst>
            <p14:sldId id="256"/>
            <p14:sldId id="257"/>
          </p14:sldIdLst>
        </p14:section>
        <p14:section name="Données et architecture" id="{bd7e068f-c2a9-91b3-68c5-9e7b0be7d751}">
          <p14:sldIdLst>
            <p14:sldId id="258"/>
            <p14:sldId id="259"/>
          </p14:sldIdLst>
        </p14:section>
        <p14:section name="Les briques" id="{2f2df94c-00fc-e18c-2257-de356ae9da1e}">
          <p14:sldIdLst>
            <p14:sldId id="260"/>
            <p14:sldId id="261"/>
            <p14:sldId id="262"/>
            <p14:sldId id="263"/>
            <p14:sldId id="264"/>
          </p14:sldIdLst>
        </p14:section>
        <p14:section name="Résultats" id="{028a7f80-53a9-a33d-c8ba-c1be23c3842c}">
          <p14:sldIdLst>
            <p14:sldId id="265"/>
            <p14:sldId id="266"/>
            <p14:sldId id="267"/>
          </p14:sldIdLst>
        </p14:section>
        <p14:section name="Conclusion" id="{58e23269-f544-43e0-822b-4a649628d8b3}">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5B6B70"/>
                </a:solidFill>
                <a:latin typeface="+mn-lt"/>
              </a:defRPr>
            </a:pPr>
            <a:r>
              <a:rPr sz="1400" b="0" i="0" u="none" strike="noStrike">
                <a:solidFill>
                  <a:srgbClr val="5B6B70"/>
                </a:solidFill>
                <a:latin typeface="+mn-lt"/>
              </a:rPr>
              <a:t>Passages vectorisés par seconde (1 worker)</a:t>
            </a:r>
          </a:p>
        </c:rich>
      </c:tx>
      <c:layout/>
      <c:overlay val="0"/>
    </c:title>
    <c:autoTitleDeleted val="0"/>
    <c:plotArea>
      <c:layout/>
      <c:barChart>
        <c:barDir val="col"/>
        <c:grouping val="clustered"/>
        <c:varyColors val="0"/>
        <c:ser>
          <c:idx val="0"/>
          <c:order val="0"/>
          <c:tx>
            <c:strRef>
              <c:f>Sheet1!$B$1</c:f>
              <c:strCache>
                <c:ptCount val="1"/>
                <c:pt idx="0">
                  <c:v>Passages par seconde</c:v>
                </c:pt>
              </c:strCache>
            </c:strRef>
          </c:tx>
          <c:spPr>
            <a:solidFill>
              <a:srgbClr val="0B3C49"/>
            </a:solidFill>
            <a:effectLst/>
          </c:spPr>
          <c:invertIfNegative val="0"/>
          <c:dLbls>
            <c:numFmt formatCode="0.0" sourceLinked="0"/>
            <c:txPr>
              <a:bodyPr/>
              <a:lstStyle/>
              <a:p>
                <a:pPr>
                  <a:defRPr b="1" i="0" strike="noStrike" sz="1400" u="none">
                    <a:solidFill>
                      <a:srgbClr val="0B3C49"/>
                    </a:solidFill>
                    <a:latin typeface="+mn-lt"/>
                  </a:defRPr>
                </a:pPr>
              </a:p>
            </c:txPr>
            <c:showLegendKey val="0"/>
            <c:showVal val="1"/>
            <c:showCatName val="0"/>
            <c:showSerName val="0"/>
            <c:showPercent val="0"/>
            <c:showBubbleSize val="0"/>
            <c:showLeaderLines val="0"/>
          </c:dLbls>
          <c:cat>
            <c:multiLvlStrRef>
              <c:f>Sheet1!$A$2:$A$4</c:f>
              <c:multiLvlStrCache>
                <c:ptCount val="3"/>
                <c:lvl>
                  <c:pt idx="0">
                    <c:v>Run 2 : configuration initiale</c:v>
                  </c:pt>
                  <c:pt idx="1">
                    <c:v>Run 3 : head coordinateur</c:v>
                  </c:pt>
                  <c:pt idx="2">
                    <c:v>Run 9 : passages de 500 car.</c:v>
                  </c:pt>
                </c:lvl>
              </c:multiLvlStrCache>
            </c:multiLvlStrRef>
          </c:cat>
          <c:val>
            <c:numRef>
              <c:f>Sheet1!$B$2:$B$4</c:f>
              <c:numCache>
                <c:formatCode>General</c:formatCode>
                <c:ptCount val="3"/>
                <c:pt idx="0">
                  <c:v>2.9</c:v>
                </c:pt>
                <c:pt idx="1">
                  <c:v>23.5</c:v>
                </c:pt>
                <c:pt idx="2">
                  <c:v>28.1</c:v>
                </c:pt>
              </c:numCache>
            </c:numRef>
          </c:val>
        </c:ser>
        <c:dLbls>
          <c:numFmt formatCode="0.0" sourceLinked="0"/>
          <c:txPr>
            <a:bodyPr/>
            <a:lstStyle/>
            <a:p>
              <a:pPr>
                <a:defRPr b="1" i="0" strike="noStrike" sz="1400" u="none">
                  <a:solidFill>
                    <a:srgbClr val="0B3C49"/>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0"/>
                </a:solidFill>
                <a:latin typeface="+mn-lt"/>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9525" cap="flat">
              <a:solidFill>
                <a:srgbClr val="D9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0"/>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Salma Abarkane.
Annoncer le sujet : construire un assistant qui répond à des questions sur Wikipédia en citant ses sources, avec une vraie chaîne Big Data derrière. Présenter l'équipe et le déroulé : le principe, les données, l'architecture, chaque brique, les résultats, puis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Mohamed Anouar Faress.
Expliquer pourquoi un LLM seul ne suffit pas (pas d'accès aux documents, risque d'invention). Le RAG en trois temps : question, recherche des passages proches, génération qui cite ses sources. Insister : tout le travail Big Data se fait avant, pour que la recherche prenne une fraction de seconde.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Rania Bouaroua.
Pourquoi Wikipédia FR : en français, libre, très varié, et assez volumineux pour justifier une architecture distribuée. Nous avons développé et mesuré sur le fichier 16 ; les 16 autres fichiers se traitent de la même façon, en paramètre du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Salma Abarkane.
Suivre le flux de gauche à droite puis de droite à gauche : collecte Airbyte vers la zone brute, staging SQL vers les documents propres, vectorisation sur Ray, écriture dans Qdrant et PostgreSQL, contrôles. Prefect orchestre tout le bloc. En bas, le parcours d'une question : Gradio, Qdrant, puis le LLM. Tout tourne dans Docker Compose (7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Rania Bouaroua (Airbyte) puis Oumaima Gassi (PostgreSQL).
Airbyte : connecteur officiel, collecte incrémentale fichier par fichier, souci de compatibilité Python réglé par un environnement 3.11 isolé.
PostgreSQL : trois rôles (zone brute, documents propres, journal du pipeline). Le staging en une requête, avec l'empreinte md5 pour ne retraiter que ce qui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Mohammed Yassine Benmeziane.
Ray Data découpe le travail en tâches, puis un pool d'acteurs calcule les embeddings : chaque acteur charge le modèle une seule fois. Le head ne fait que coordonner. La taille des passages (500 caractères) vient de la limite du modèle : 128 tokens. Les identifiants déterministes rendent les runs rejouables sans doublon.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Imad Eddine El Khorassani.
Chaque passage est un point : son vecteur et ses métadonnées. Distance cosinus, vecteurs d'origine sur disque, copie int8 en mémoire avec recalcul exact. Les index de charge utile servent à supprimer les passages d'un article modifié et à filtrer par titre.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Salma Benmouma.
Le flow pipeline-rag enchaîne quatre tâches. Reprises automatiques sur la collecte, suivi du job Ray, contrôle de cohérence. On voit dans l'historique les runs réussis et ceux en échec pendant la mise au point. Le déploiement permet de lancer un run depuis l'interface en changeant les paramètres.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Anys Louzal.
Trois onglets : l'assistant (réponse en continu et sources cliquables), la recherche sémantique seule, et le tableau de bord du pipeline. Chaque question est tracée dans PostgreSQL. Annoncer que la démo en direct vient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Mohammed Yassine Benmeziane.
De 2,9 à 28,1 passages par seconde sur la même machine. Le premier run était lent car le head exécutait des tâches et Ray a tué l'écriture 41 fois. Ensuite, passages ramenés à 500 caractères pour coller à la limite du modèle. Le passage à 2 workers ou plus n'a pas pu être mesuré : 8 Go de mémoire Docker seulement.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Mohamed Anouar Faress.
Expliquer la méthode : questions synthétiques générées à partir de passages tirés au hasard, puis rang de l'article d'origine dans les résultats. Hit@1 et Hit@5, MRR. Les 3 échecs sont des questions qui ne nomment pas leur sujet. Rester honnête sur les limites : questions proches du texte, petit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Salma Abarkane.
Quatre problèmes réels, chacun diagnostiqué et corrigé. Insister sur le dernier : les compteurs du conteneur montraient des processus tués sans que le conteneur atteigne sa limite, donc c'était toute la machine virtuelle Docker qui manquait de mémoire.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 Salma Benmouma.
Être transparent sur ce qui n'a pas été fait (volume, passage à l'échelle mesuré) et montrer que l'architecture est prête : ajouter des workers, des fichiers ou des sources ne demande que des paramètres.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Chacun rappelle sa brique en une phrase si le temps le permet. Le code est partagé sur un dépôt Git privé, une branche par brique et une relecture avant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 : Anys Louzal.
1. Gradio, onglet Assistant : poser « Comment fonctionne une horloge mécanique ? », montrer la réponse en continu et les sources.
2. Onglet Pipeline : volumes et historique des runs.
3. Prefect : l'historique des runs et le déploiement.
4. Ray : le tableau de bord du cluster.
Prévoir d'avoir posé une première question avant la soutenance, pour que le modèle soit déjà chargé (la toute première réponse est lente).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57200"/>
          </a:xfrm>
          <a:prstGeom prst="rect">
            <a:avLst/>
          </a:prstGeom>
          <a:noFill/>
          <a:ln/>
        </p:spPr>
        <p:txBody>
          <a:bodyPr wrap="square" rtlCol="0"/>
          <a:lstStyle>
            <a:lvl1pPr algn="l" indent="0" marL="0">
              <a:buNone/>
              <a:defRPr lang="en-US" sz="1400" b="1" spc="300" kern="0"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731520" y="192024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840480"/>
            <a:ext cx="10698480" cy="109728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Groupe 6 · Pipeline RAG Big Data</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_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Groupe 6 · Pipeline RAG Big Data</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57200"/>
          </a:xfrm>
          <a:prstGeom prst="rect">
            <a:avLst/>
          </a:prstGeom>
          <a:noFill/>
          <a:ln/>
        </p:spPr>
        <p:txBody>
          <a:bodyPr wrap="square" lIns="0" tIns="0" rIns="0" bIns="0" rtlCol="0"/>
          <a:lstStyle/>
          <a:p>
            <a:pPr algn="l" indent="0" marL="0">
              <a:buNone/>
            </a:pPr>
            <a:r>
              <a:rPr lang="en-US" sz="1400" b="1" spc="300" kern="0" dirty="0">
                <a:solidFill>
                  <a:schemeClr val="accent1"/>
                </a:solidFill>
              </a:rPr>
              <a:t>GROUPE 6 · TECHNOLOGIES BIG DATA AVANCÉES 2026</a:t>
            </a:r>
            <a:endParaRPr lang="en-US" sz="1400" dirty="0"/>
          </a:p>
        </p:txBody>
      </p:sp>
      <p:sp>
        <p:nvSpPr>
          <p:cNvPr id="3" name="Text 0"/>
          <p:cNvSpPr/>
          <p:nvPr>
            <p:ph idx="101" type="title" hasCustomPrompt="1"/>
          </p:nvPr>
        </p:nvSpPr>
        <p:spPr>
          <a:xfrm>
            <a:off x="731520" y="1920240"/>
            <a:ext cx="10698480" cy="1737360"/>
          </a:xfrm>
          <a:prstGeom prst="rect">
            <a:avLst/>
          </a:prstGeom>
          <a:noFill/>
          <a:ln/>
        </p:spPr>
        <p:txBody>
          <a:bodyPr wrap="square" lIns="0" tIns="0" rIns="0" bIns="0" rtlCol="0" anchor="t"/>
          <a:lstStyle/>
          <a:p>
            <a:pPr algn="l" indent="0" marL="0">
              <a:buNone/>
            </a:pPr>
            <a:r>
              <a:rPr lang="en-US" sz="4400" b="1" dirty="0">
                <a:solidFill>
                  <a:schemeClr val="bg1"/>
                </a:solidFill>
              </a:rPr>
              <a:t>Pipeline de recherche sémantique sur documents (RAG)</a:t>
            </a:r>
            <a:endParaRPr lang="en-US" sz="4400" dirty="0"/>
          </a:p>
        </p:txBody>
      </p:sp>
      <p:sp>
        <p:nvSpPr>
          <p:cNvPr id="4" name="Text 0"/>
          <p:cNvSpPr/>
          <p:nvPr>
            <p:ph idx="102" type="body" hasCustomPrompt="1"/>
          </p:nvPr>
        </p:nvSpPr>
        <p:spPr>
          <a:xfrm>
            <a:off x="731520" y="3840480"/>
            <a:ext cx="10698480" cy="1097280"/>
          </a:xfrm>
          <a:prstGeom prst="rect">
            <a:avLst/>
          </a:prstGeom>
          <a:noFill/>
          <a:ln/>
        </p:spPr>
        <p:txBody>
          <a:bodyPr wrap="square" lIns="0" tIns="0" rIns="0" bIns="0" rtlCol="0" anchor="t"/>
          <a:lstStyle/>
          <a:p>
            <a:pPr algn="l" indent="0" marL="0">
              <a:buNone/>
            </a:pPr>
            <a:r>
              <a:rPr lang="en-US" sz="2000" dirty="0">
                <a:solidFill>
                  <a:schemeClr val="accent5"/>
                </a:solidFill>
              </a:rPr>
              <a:t>Wikipédia en français · Airbyte · Prefect · PostgreSQL · Qdrant · Ray · Gradio</a:t>
            </a:r>
            <a:endParaRPr lang="en-US" sz="2000" dirty="0"/>
          </a:p>
        </p:txBody>
      </p:sp>
      <p:sp>
        <p:nvSpPr>
          <p:cNvPr id="5" name="Membres"/>
          <p:cNvSpPr txBox="1"/>
          <p:nvPr/>
        </p:nvSpPr>
        <p:spPr>
          <a:xfrm>
            <a:off x="731520" y="5669280"/>
            <a:ext cx="10698480" cy="640080"/>
          </a:xfrm>
          <a:prstGeom prst="rect">
            <a:avLst/>
          </a:prstGeom>
          <a:noFill/>
          <a:ln/>
        </p:spPr>
        <p:txBody>
          <a:bodyPr wrap="square" lIns="0" tIns="0" rIns="0" bIns="0" rtlCol="0" anchor="ctr"/>
          <a:lstStyle/>
          <a:p>
            <a:pPr indent="0" marL="0">
              <a:buNone/>
            </a:pPr>
            <a:r>
              <a:rPr lang="en-US" sz="1300" dirty="0">
                <a:solidFill>
                  <a:schemeClr val="accent5"/>
                </a:solidFill>
              </a:rPr>
              <a:t>Salma Abarkane · Rania Bouaroua · Salma Benmouma · Oumaima Gassi · Imad Eddine El Khorassani · Mohammed Yassine Benmeziane · Anys Louzal · Mohamed Anouar Faress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Le RAG : répondre en citant ses sources</a:t>
            </a:r>
            <a:endParaRPr lang="en-US" sz="3000" dirty="0"/>
          </a:p>
        </p:txBody>
      </p:sp>
      <p:sp>
        <p:nvSpPr>
          <p:cNvPr id="3" name="Introduction"/>
          <p:cNvSpPr txBox="1"/>
          <p:nvPr/>
        </p:nvSpPr>
        <p:spPr>
          <a:xfrm>
            <a:off x="548640" y="1234440"/>
            <a:ext cx="11064240" cy="685800"/>
          </a:xfrm>
          <a:prstGeom prst="rect">
            <a:avLst/>
          </a:prstGeom>
          <a:noFill/>
          <a:ln/>
        </p:spPr>
        <p:txBody>
          <a:bodyPr wrap="square" lIns="0" tIns="0" rIns="0" bIns="0" rtlCol="0" anchor="ctr"/>
          <a:lstStyle/>
          <a:p>
            <a:pPr indent="0" marL="0">
              <a:buNone/>
            </a:pPr>
            <a:r>
              <a:rPr lang="en-US" sz="1700" dirty="0">
                <a:solidFill>
                  <a:schemeClr val="tx1"/>
                </a:solidFill>
              </a:rPr>
              <a:t>Un modèle de langage seul peut inventer. Le RAG lui fournit d'abord les bons passages, puis lui demande de répondre uniquement à partir d'eux.</a:t>
            </a:r>
            <a:endParaRPr lang="en-US" sz="1700" dirty="0"/>
          </a:p>
        </p:txBody>
      </p:sp>
      <p:sp>
        <p:nvSpPr>
          <p:cNvPr id="4" name="Étape 1"/>
          <p:cNvSpPr/>
          <p:nvPr/>
        </p:nvSpPr>
        <p:spPr>
          <a:xfrm>
            <a:off x="548640" y="2240280"/>
            <a:ext cx="3392424" cy="3108960"/>
          </a:xfrm>
          <a:prstGeom prst="roundRect">
            <a:avLst>
              <a:gd name="adj" fmla="val 3529"/>
            </a:avLst>
          </a:prstGeom>
          <a:solidFill>
            <a:schemeClr val="bg2"/>
          </a:solidFill>
          <a:ln/>
        </p:spPr>
      </p:sp>
      <p:sp>
        <p:nvSpPr>
          <p:cNvPr id="5" name="Icône étape 1 (fond)"/>
          <p:cNvSpPr/>
          <p:nvPr/>
        </p:nvSpPr>
        <p:spPr>
          <a:xfrm>
            <a:off x="868680" y="2560320"/>
            <a:ext cx="868680" cy="868680"/>
          </a:xfrm>
          <a:prstGeom prst="ellipse">
            <a:avLst/>
          </a:prstGeom>
          <a:solidFill>
            <a:schemeClr val="bg1"/>
          </a:solidFill>
          <a:ln/>
        </p:spPr>
      </p:sp>
      <p:pic>
        <p:nvPicPr>
          <p:cNvPr id="6" name="Icône étape 1" descr="Icône étape 1">    </p:cNvPr>
          <p:cNvPicPr>
            <a:picLocks noChangeAspect="1"/>
          </p:cNvPicPr>
          <p:nvPr/>
        </p:nvPicPr>
        <p:blipFill>
          <a:blip r:embed="rId1"/>
          <a:stretch>
            <a:fillRect/>
          </a:stretch>
        </p:blipFill>
        <p:spPr>
          <a:xfrm>
            <a:off x="1077163" y="2768803"/>
            <a:ext cx="451714" cy="451714"/>
          </a:xfrm>
          <a:prstGeom prst="rect">
            <a:avLst/>
          </a:prstGeom>
        </p:spPr>
      </p:pic>
      <p:sp>
        <p:nvSpPr>
          <p:cNvPr id="7" name="Titre étape 1"/>
          <p:cNvSpPr txBox="1"/>
          <p:nvPr/>
        </p:nvSpPr>
        <p:spPr>
          <a:xfrm>
            <a:off x="868680" y="3611880"/>
            <a:ext cx="2743200" cy="457200"/>
          </a:xfrm>
          <a:prstGeom prst="rect">
            <a:avLst/>
          </a:prstGeom>
          <a:noFill/>
          <a:ln/>
        </p:spPr>
        <p:txBody>
          <a:bodyPr wrap="square" lIns="0" tIns="0" rIns="0" bIns="0" rtlCol="0" anchor="ctr"/>
          <a:lstStyle/>
          <a:p>
            <a:pPr indent="0" marL="0">
              <a:buNone/>
            </a:pPr>
            <a:r>
              <a:rPr lang="en-US" sz="2100" b="1" dirty="0">
                <a:solidFill>
                  <a:schemeClr val="tx2"/>
                </a:solidFill>
              </a:rPr>
              <a:t>1. Question</a:t>
            </a:r>
            <a:endParaRPr lang="en-US" sz="2100" dirty="0"/>
          </a:p>
        </p:txBody>
      </p:sp>
      <p:sp>
        <p:nvSpPr>
          <p:cNvPr id="8" name="Texte étape 1"/>
          <p:cNvSpPr txBox="1"/>
          <p:nvPr/>
        </p:nvSpPr>
        <p:spPr>
          <a:xfrm>
            <a:off x="868680" y="4114800"/>
            <a:ext cx="2788920" cy="1097280"/>
          </a:xfrm>
          <a:prstGeom prst="rect">
            <a:avLst/>
          </a:prstGeom>
          <a:noFill/>
          <a:ln/>
        </p:spPr>
        <p:txBody>
          <a:bodyPr wrap="square" lIns="0" tIns="0" rIns="0" bIns="0" rtlCol="0" anchor="t"/>
          <a:lstStyle/>
          <a:p>
            <a:pPr indent="0" marL="0">
              <a:buNone/>
            </a:pPr>
            <a:r>
              <a:rPr lang="en-US" sz="1500" dirty="0">
                <a:solidFill>
                  <a:schemeClr val="tx1"/>
                </a:solidFill>
              </a:rPr>
              <a:t>L'utilisateur pose une question en langage naturel dans l'application Gradio.</a:t>
            </a:r>
            <a:endParaRPr lang="en-US" sz="1500" dirty="0"/>
          </a:p>
        </p:txBody>
      </p:sp>
      <p:sp>
        <p:nvSpPr>
          <p:cNvPr id="9" name="Flèche 1"/>
          <p:cNvSpPr/>
          <p:nvPr/>
        </p:nvSpPr>
        <p:spPr>
          <a:xfrm>
            <a:off x="4032504" y="3611880"/>
            <a:ext cx="274320" cy="411480"/>
          </a:xfrm>
          <a:prstGeom prst="chevron">
            <a:avLst/>
          </a:prstGeom>
          <a:solidFill>
            <a:schemeClr val="accent1"/>
          </a:solidFill>
          <a:ln/>
        </p:spPr>
      </p:sp>
      <p:sp>
        <p:nvSpPr>
          <p:cNvPr id="10" name="Étape 2"/>
          <p:cNvSpPr/>
          <p:nvPr/>
        </p:nvSpPr>
        <p:spPr>
          <a:xfrm>
            <a:off x="4398264" y="2240280"/>
            <a:ext cx="3392424" cy="3108960"/>
          </a:xfrm>
          <a:prstGeom prst="roundRect">
            <a:avLst>
              <a:gd name="adj" fmla="val 3529"/>
            </a:avLst>
          </a:prstGeom>
          <a:solidFill>
            <a:schemeClr val="bg2"/>
          </a:solidFill>
          <a:ln/>
        </p:spPr>
      </p:sp>
      <p:sp>
        <p:nvSpPr>
          <p:cNvPr id="11" name="Icône étape 2 (fond)"/>
          <p:cNvSpPr/>
          <p:nvPr/>
        </p:nvSpPr>
        <p:spPr>
          <a:xfrm>
            <a:off x="4718304" y="2560320"/>
            <a:ext cx="868680" cy="868680"/>
          </a:xfrm>
          <a:prstGeom prst="ellipse">
            <a:avLst/>
          </a:prstGeom>
          <a:solidFill>
            <a:schemeClr val="bg1"/>
          </a:solidFill>
          <a:ln/>
        </p:spPr>
      </p:sp>
      <p:pic>
        <p:nvPicPr>
          <p:cNvPr id="12" name="Icône étape 2" descr="Icône étape 2">    </p:cNvPr>
          <p:cNvPicPr>
            <a:picLocks noChangeAspect="1"/>
          </p:cNvPicPr>
          <p:nvPr/>
        </p:nvPicPr>
        <p:blipFill>
          <a:blip r:embed="rId2"/>
          <a:stretch>
            <a:fillRect/>
          </a:stretch>
        </p:blipFill>
        <p:spPr>
          <a:xfrm>
            <a:off x="4926787" y="2768803"/>
            <a:ext cx="451714" cy="451714"/>
          </a:xfrm>
          <a:prstGeom prst="rect">
            <a:avLst/>
          </a:prstGeom>
        </p:spPr>
      </p:pic>
      <p:sp>
        <p:nvSpPr>
          <p:cNvPr id="13" name="Titre étape 2"/>
          <p:cNvSpPr txBox="1"/>
          <p:nvPr/>
        </p:nvSpPr>
        <p:spPr>
          <a:xfrm>
            <a:off x="4718304" y="3611880"/>
            <a:ext cx="2743200" cy="457200"/>
          </a:xfrm>
          <a:prstGeom prst="rect">
            <a:avLst/>
          </a:prstGeom>
          <a:noFill/>
          <a:ln/>
        </p:spPr>
        <p:txBody>
          <a:bodyPr wrap="square" lIns="0" tIns="0" rIns="0" bIns="0" rtlCol="0" anchor="ctr"/>
          <a:lstStyle/>
          <a:p>
            <a:pPr indent="0" marL="0">
              <a:buNone/>
            </a:pPr>
            <a:r>
              <a:rPr lang="en-US" sz="2100" b="1" dirty="0">
                <a:solidFill>
                  <a:schemeClr val="tx2"/>
                </a:solidFill>
              </a:rPr>
              <a:t>2. Recherche</a:t>
            </a:r>
            <a:endParaRPr lang="en-US" sz="2100" dirty="0"/>
          </a:p>
        </p:txBody>
      </p:sp>
      <p:sp>
        <p:nvSpPr>
          <p:cNvPr id="14" name="Texte étape 2"/>
          <p:cNvSpPr txBox="1"/>
          <p:nvPr/>
        </p:nvSpPr>
        <p:spPr>
          <a:xfrm>
            <a:off x="4718304" y="4114800"/>
            <a:ext cx="2788920" cy="1097280"/>
          </a:xfrm>
          <a:prstGeom prst="rect">
            <a:avLst/>
          </a:prstGeom>
          <a:noFill/>
          <a:ln/>
        </p:spPr>
        <p:txBody>
          <a:bodyPr wrap="square" lIns="0" tIns="0" rIns="0" bIns="0" rtlCol="0" anchor="t"/>
          <a:lstStyle/>
          <a:p>
            <a:pPr indent="0" marL="0">
              <a:buNone/>
            </a:pPr>
            <a:r>
              <a:rPr lang="en-US" sz="1500" dirty="0">
                <a:solidFill>
                  <a:schemeClr val="tx1"/>
                </a:solidFill>
              </a:rPr>
              <a:t>La question est vectorisée, puis Qdrant renvoie les passages les plus proches parmi 14 290.</a:t>
            </a:r>
            <a:endParaRPr lang="en-US" sz="1500" dirty="0"/>
          </a:p>
        </p:txBody>
      </p:sp>
      <p:sp>
        <p:nvSpPr>
          <p:cNvPr id="15" name="Flèche 2"/>
          <p:cNvSpPr/>
          <p:nvPr/>
        </p:nvSpPr>
        <p:spPr>
          <a:xfrm>
            <a:off x="7882128" y="3611880"/>
            <a:ext cx="274320" cy="411480"/>
          </a:xfrm>
          <a:prstGeom prst="chevron">
            <a:avLst/>
          </a:prstGeom>
          <a:solidFill>
            <a:schemeClr val="accent1"/>
          </a:solidFill>
          <a:ln/>
        </p:spPr>
      </p:sp>
      <p:sp>
        <p:nvSpPr>
          <p:cNvPr id="16" name="Étape 3"/>
          <p:cNvSpPr/>
          <p:nvPr/>
        </p:nvSpPr>
        <p:spPr>
          <a:xfrm>
            <a:off x="8247888" y="2240280"/>
            <a:ext cx="3392424" cy="3108960"/>
          </a:xfrm>
          <a:prstGeom prst="roundRect">
            <a:avLst>
              <a:gd name="adj" fmla="val 3529"/>
            </a:avLst>
          </a:prstGeom>
          <a:solidFill>
            <a:schemeClr val="bg2"/>
          </a:solidFill>
          <a:ln/>
        </p:spPr>
      </p:sp>
      <p:sp>
        <p:nvSpPr>
          <p:cNvPr id="17" name="Icône étape 3 (fond)"/>
          <p:cNvSpPr/>
          <p:nvPr/>
        </p:nvSpPr>
        <p:spPr>
          <a:xfrm>
            <a:off x="8567928" y="2560320"/>
            <a:ext cx="868680" cy="868680"/>
          </a:xfrm>
          <a:prstGeom prst="ellipse">
            <a:avLst/>
          </a:prstGeom>
          <a:solidFill>
            <a:schemeClr val="bg1"/>
          </a:solidFill>
          <a:ln/>
        </p:spPr>
      </p:sp>
      <p:pic>
        <p:nvPicPr>
          <p:cNvPr id="18" name="Icône étape 3" descr="Icône étape 3">    </p:cNvPr>
          <p:cNvPicPr>
            <a:picLocks noChangeAspect="1"/>
          </p:cNvPicPr>
          <p:nvPr/>
        </p:nvPicPr>
        <p:blipFill>
          <a:blip r:embed="rId3"/>
          <a:stretch>
            <a:fillRect/>
          </a:stretch>
        </p:blipFill>
        <p:spPr>
          <a:xfrm>
            <a:off x="8776411" y="2768803"/>
            <a:ext cx="451714" cy="451714"/>
          </a:xfrm>
          <a:prstGeom prst="rect">
            <a:avLst/>
          </a:prstGeom>
        </p:spPr>
      </p:pic>
      <p:sp>
        <p:nvSpPr>
          <p:cNvPr id="19" name="Titre étape 3"/>
          <p:cNvSpPr txBox="1"/>
          <p:nvPr/>
        </p:nvSpPr>
        <p:spPr>
          <a:xfrm>
            <a:off x="8567928" y="3611880"/>
            <a:ext cx="2743200" cy="457200"/>
          </a:xfrm>
          <a:prstGeom prst="rect">
            <a:avLst/>
          </a:prstGeom>
          <a:noFill/>
          <a:ln/>
        </p:spPr>
        <p:txBody>
          <a:bodyPr wrap="square" lIns="0" tIns="0" rIns="0" bIns="0" rtlCol="0" anchor="ctr"/>
          <a:lstStyle/>
          <a:p>
            <a:pPr indent="0" marL="0">
              <a:buNone/>
            </a:pPr>
            <a:r>
              <a:rPr lang="en-US" sz="2100" b="1" dirty="0">
                <a:solidFill>
                  <a:schemeClr val="tx2"/>
                </a:solidFill>
              </a:rPr>
              <a:t>3. Génération</a:t>
            </a:r>
            <a:endParaRPr lang="en-US" sz="2100" dirty="0"/>
          </a:p>
        </p:txBody>
      </p:sp>
      <p:sp>
        <p:nvSpPr>
          <p:cNvPr id="20" name="Texte étape 3"/>
          <p:cNvSpPr txBox="1"/>
          <p:nvPr/>
        </p:nvSpPr>
        <p:spPr>
          <a:xfrm>
            <a:off x="8567928" y="4114800"/>
            <a:ext cx="2788920" cy="1097280"/>
          </a:xfrm>
          <a:prstGeom prst="rect">
            <a:avLst/>
          </a:prstGeom>
          <a:noFill/>
          <a:ln/>
        </p:spPr>
        <p:txBody>
          <a:bodyPr wrap="square" lIns="0" tIns="0" rIns="0" bIns="0" rtlCol="0" anchor="t"/>
          <a:lstStyle/>
          <a:p>
            <a:pPr indent="0" marL="0">
              <a:buNone/>
            </a:pPr>
            <a:r>
              <a:rPr lang="en-US" sz="1500" dirty="0">
                <a:solidFill>
                  <a:schemeClr val="tx1"/>
                </a:solidFill>
              </a:rPr>
              <a:t>Le LLM rédige la réponse à partir de ces passages seulement, et cite ses sources [1], [2]…</a:t>
            </a:r>
            <a:endParaRPr lang="en-US" sz="1500" dirty="0"/>
          </a:p>
        </p:txBody>
      </p:sp>
      <p:sp>
        <p:nvSpPr>
          <p:cNvPr id="21" name="Défi"/>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1600" i="1" dirty="0">
                <a:solidFill>
                  <a:schemeClr val="accent2"/>
                </a:solidFill>
              </a:rPr>
              <a:t>Le défi Big Data : préparer et indexer des millions de passages avant la première question.</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bg1"/>
                </a:solidFill>
              </a:rPr>
              <a:t>Le corpus : Wikipédia en français</a:t>
            </a:r>
            <a:endParaRPr lang="en-US" sz="3000" dirty="0"/>
          </a:p>
        </p:txBody>
      </p:sp>
      <p:sp>
        <p:nvSpPr>
          <p:cNvPr id="3" name="Chiffre 1"/>
          <p:cNvSpPr txBox="1"/>
          <p:nvPr/>
        </p:nvSpPr>
        <p:spPr>
          <a:xfrm>
            <a:off x="548640" y="1920240"/>
            <a:ext cx="2560320" cy="1005840"/>
          </a:xfrm>
          <a:prstGeom prst="rect">
            <a:avLst/>
          </a:prstGeom>
          <a:noFill/>
          <a:ln/>
        </p:spPr>
        <p:txBody>
          <a:bodyPr wrap="square" lIns="0" tIns="0" rIns="0" bIns="0" rtlCol="0" anchor="ctr"/>
          <a:lstStyle/>
          <a:p>
            <a:pPr indent="0" marL="0">
              <a:buNone/>
            </a:pPr>
            <a:r>
              <a:rPr lang="en-US" sz="5200" b="1" dirty="0">
                <a:solidFill>
                  <a:schemeClr val="accent1"/>
                </a:solidFill>
              </a:rPr>
              <a:t>2,6 M</a:t>
            </a:r>
            <a:endParaRPr lang="en-US" sz="5200" dirty="0"/>
          </a:p>
        </p:txBody>
      </p:sp>
      <p:sp>
        <p:nvSpPr>
          <p:cNvPr id="4" name="Libellé 1"/>
          <p:cNvSpPr txBox="1"/>
          <p:nvPr/>
        </p:nvSpPr>
        <p:spPr>
          <a:xfrm>
            <a:off x="548640" y="3017520"/>
            <a:ext cx="2468880" cy="914400"/>
          </a:xfrm>
          <a:prstGeom prst="rect">
            <a:avLst/>
          </a:prstGeom>
          <a:noFill/>
          <a:ln/>
        </p:spPr>
        <p:txBody>
          <a:bodyPr wrap="square" lIns="0" tIns="0" rIns="0" bIns="0" rtlCol="0" anchor="t"/>
          <a:lstStyle/>
          <a:p>
            <a:pPr indent="0" marL="0">
              <a:buNone/>
            </a:pPr>
            <a:r>
              <a:rPr lang="en-US" sz="1600" dirty="0">
                <a:solidFill>
                  <a:schemeClr val="bg1"/>
                </a:solidFill>
              </a:rPr>
              <a:t>articles dans le corpus complet</a:t>
            </a:r>
            <a:endParaRPr lang="en-US" sz="1600" dirty="0"/>
          </a:p>
        </p:txBody>
      </p:sp>
      <p:sp>
        <p:nvSpPr>
          <p:cNvPr id="5" name="Chiffre 2"/>
          <p:cNvSpPr txBox="1"/>
          <p:nvPr/>
        </p:nvSpPr>
        <p:spPr>
          <a:xfrm>
            <a:off x="3392424" y="1920240"/>
            <a:ext cx="2560320" cy="1005840"/>
          </a:xfrm>
          <a:prstGeom prst="rect">
            <a:avLst/>
          </a:prstGeom>
          <a:noFill/>
          <a:ln/>
        </p:spPr>
        <p:txBody>
          <a:bodyPr wrap="square" lIns="0" tIns="0" rIns="0" bIns="0" rtlCol="0" anchor="ctr"/>
          <a:lstStyle/>
          <a:p>
            <a:pPr indent="0" marL="0">
              <a:buNone/>
            </a:pPr>
            <a:r>
              <a:rPr lang="en-US" sz="5200" b="1" dirty="0">
                <a:solidFill>
                  <a:schemeClr val="accent1"/>
                </a:solidFill>
              </a:rPr>
              <a:t>17</a:t>
            </a:r>
            <a:endParaRPr lang="en-US" sz="5200" dirty="0"/>
          </a:p>
        </p:txBody>
      </p:sp>
      <p:sp>
        <p:nvSpPr>
          <p:cNvPr id="6" name="Libellé 2"/>
          <p:cNvSpPr txBox="1"/>
          <p:nvPr/>
        </p:nvSpPr>
        <p:spPr>
          <a:xfrm>
            <a:off x="3392424" y="3017520"/>
            <a:ext cx="2468880" cy="914400"/>
          </a:xfrm>
          <a:prstGeom prst="rect">
            <a:avLst/>
          </a:prstGeom>
          <a:noFill/>
          <a:ln/>
        </p:spPr>
        <p:txBody>
          <a:bodyPr wrap="square" lIns="0" tIns="0" rIns="0" bIns="0" rtlCol="0" anchor="t"/>
          <a:lstStyle/>
          <a:p>
            <a:pPr indent="0" marL="0">
              <a:buNone/>
            </a:pPr>
            <a:r>
              <a:rPr lang="en-US" sz="1600" dirty="0">
                <a:solidFill>
                  <a:schemeClr val="bg1"/>
                </a:solidFill>
              </a:rPr>
              <a:t>fichiers parquet, environ 5 Go compressés</a:t>
            </a:r>
            <a:endParaRPr lang="en-US" sz="1600" dirty="0"/>
          </a:p>
        </p:txBody>
      </p:sp>
      <p:sp>
        <p:nvSpPr>
          <p:cNvPr id="7" name="Chiffre 3"/>
          <p:cNvSpPr txBox="1"/>
          <p:nvPr/>
        </p:nvSpPr>
        <p:spPr>
          <a:xfrm>
            <a:off x="6236208" y="1920240"/>
            <a:ext cx="2560320" cy="1005840"/>
          </a:xfrm>
          <a:prstGeom prst="rect">
            <a:avLst/>
          </a:prstGeom>
          <a:noFill/>
          <a:ln/>
        </p:spPr>
        <p:txBody>
          <a:bodyPr wrap="square" lIns="0" tIns="0" rIns="0" bIns="0" rtlCol="0" anchor="ctr"/>
          <a:lstStyle/>
          <a:p>
            <a:pPr indent="0" marL="0">
              <a:buNone/>
            </a:pPr>
            <a:r>
              <a:rPr lang="en-US" sz="5200" b="1" dirty="0">
                <a:solidFill>
                  <a:schemeClr val="accent1"/>
                </a:solidFill>
              </a:rPr>
              <a:t>112 313</a:t>
            </a:r>
            <a:endParaRPr lang="en-US" sz="5200" dirty="0"/>
          </a:p>
        </p:txBody>
      </p:sp>
      <p:sp>
        <p:nvSpPr>
          <p:cNvPr id="8" name="Libellé 3"/>
          <p:cNvSpPr txBox="1"/>
          <p:nvPr/>
        </p:nvSpPr>
        <p:spPr>
          <a:xfrm>
            <a:off x="6236208" y="3017520"/>
            <a:ext cx="2468880" cy="914400"/>
          </a:xfrm>
          <a:prstGeom prst="rect">
            <a:avLst/>
          </a:prstGeom>
          <a:noFill/>
          <a:ln/>
        </p:spPr>
        <p:txBody>
          <a:bodyPr wrap="square" lIns="0" tIns="0" rIns="0" bIns="0" rtlCol="0" anchor="t"/>
          <a:lstStyle/>
          <a:p>
            <a:pPr indent="0" marL="0">
              <a:buNone/>
            </a:pPr>
            <a:r>
              <a:rPr lang="en-US" sz="1600" dirty="0">
                <a:solidFill>
                  <a:schemeClr val="bg1"/>
                </a:solidFill>
              </a:rPr>
              <a:t>articles retenus dans le fichier 16, sur 150 861 lus</a:t>
            </a:r>
            <a:endParaRPr lang="en-US" sz="1600" dirty="0"/>
          </a:p>
        </p:txBody>
      </p:sp>
      <p:sp>
        <p:nvSpPr>
          <p:cNvPr id="9" name="Chiffre 4"/>
          <p:cNvSpPr txBox="1"/>
          <p:nvPr/>
        </p:nvSpPr>
        <p:spPr>
          <a:xfrm>
            <a:off x="9079992" y="1920240"/>
            <a:ext cx="2560320" cy="1005840"/>
          </a:xfrm>
          <a:prstGeom prst="rect">
            <a:avLst/>
          </a:prstGeom>
          <a:noFill/>
          <a:ln/>
        </p:spPr>
        <p:txBody>
          <a:bodyPr wrap="square" lIns="0" tIns="0" rIns="0" bIns="0" rtlCol="0" anchor="ctr"/>
          <a:lstStyle/>
          <a:p>
            <a:pPr indent="0" marL="0">
              <a:buNone/>
            </a:pPr>
            <a:r>
              <a:rPr lang="en-US" sz="5200" b="1" dirty="0">
                <a:solidFill>
                  <a:schemeClr val="accent1"/>
                </a:solidFill>
              </a:rPr>
              <a:t>14 290</a:t>
            </a:r>
            <a:endParaRPr lang="en-US" sz="5200" dirty="0"/>
          </a:p>
        </p:txBody>
      </p:sp>
      <p:sp>
        <p:nvSpPr>
          <p:cNvPr id="10" name="Libellé 4"/>
          <p:cNvSpPr txBox="1"/>
          <p:nvPr/>
        </p:nvSpPr>
        <p:spPr>
          <a:xfrm>
            <a:off x="9079992" y="3017520"/>
            <a:ext cx="2468880" cy="914400"/>
          </a:xfrm>
          <a:prstGeom prst="rect">
            <a:avLst/>
          </a:prstGeom>
          <a:noFill/>
          <a:ln/>
        </p:spPr>
        <p:txBody>
          <a:bodyPr wrap="square" lIns="0" tIns="0" rIns="0" bIns="0" rtlCol="0" anchor="t"/>
          <a:lstStyle/>
          <a:p>
            <a:pPr indent="0" marL="0">
              <a:buNone/>
            </a:pPr>
            <a:r>
              <a:rPr lang="en-US" sz="1600" dirty="0">
                <a:solidFill>
                  <a:schemeClr val="bg1"/>
                </a:solidFill>
              </a:rPr>
              <a:t>passages vectorisés, issus de 2 000 articles</a:t>
            </a:r>
            <a:endParaRPr lang="en-US" sz="1600" dirty="0"/>
          </a:p>
        </p:txBody>
      </p:sp>
      <p:sp>
        <p:nvSpPr>
          <p:cNvPr id="11" name="Source"/>
          <p:cNvSpPr txBox="1"/>
          <p:nvPr/>
        </p:nvSpPr>
        <p:spPr>
          <a:xfrm>
            <a:off x="548640" y="4846320"/>
            <a:ext cx="11064240" cy="822960"/>
          </a:xfrm>
          <a:prstGeom prst="rect">
            <a:avLst/>
          </a:prstGeom>
          <a:noFill/>
          <a:ln/>
        </p:spPr>
        <p:txBody>
          <a:bodyPr wrap="square" lIns="0" tIns="0" rIns="0" bIns="0" rtlCol="0" anchor="ctr"/>
          <a:lstStyle/>
          <a:p>
            <a:pPr indent="0" marL="0">
              <a:buNone/>
            </a:pPr>
            <a:r>
              <a:rPr lang="en-US" sz="1400" dirty="0">
                <a:solidFill>
                  <a:schemeClr val="accent5"/>
                </a:solidFill>
              </a:rPr>
              <a:t>Source : jeu de données wikimedia/wikipedia, version 20231101.fr, sur Hugging Face (licence CC BY-SA). Le staging garde les articles d'au moins 500 caractères, sans doublon : 74 % du fichier 16.</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Architecture du pipeline</a:t>
            </a:r>
            <a:endParaRPr lang="en-US" sz="3000" dirty="0"/>
          </a:p>
        </p:txBody>
      </p:sp>
      <p:pic>
        <p:nvPicPr>
          <p:cNvPr id="3" name="Schéma d'architecture" descr="Architecture du pipeline : Wikipédia, Airbyte, PostgreSQL, staging SQL, Ray, Qdrant, contrôles, Gradio et LLM, orchestrés par Prefect">    </p:cNvPr>
          <p:cNvPicPr>
            <a:picLocks noChangeAspect="1"/>
          </p:cNvPicPr>
          <p:nvPr/>
        </p:nvPicPr>
        <p:blipFill>
          <a:blip r:embed="rId1"/>
          <a:stretch>
            <a:fillRect/>
          </a:stretch>
        </p:blipFill>
        <p:spPr>
          <a:xfrm>
            <a:off x="566928" y="1234440"/>
            <a:ext cx="11064240" cy="4978958"/>
          </a:xfrm>
          <a:prstGeom prst="rect">
            <a:avLst/>
          </a:prstGeom>
        </p:spPr>
      </p:pic>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Collecte et staging : Airbyte + PostgreSQL</a:t>
            </a:r>
            <a:endParaRPr lang="en-US" sz="3000" dirty="0"/>
          </a:p>
        </p:txBody>
      </p:sp>
      <p:sp>
        <p:nvSpPr>
          <p:cNvPr id="3" name="Icône Airbyte (fond)"/>
          <p:cNvSpPr/>
          <p:nvPr/>
        </p:nvSpPr>
        <p:spPr>
          <a:xfrm>
            <a:off x="548640" y="1371600"/>
            <a:ext cx="685800" cy="685800"/>
          </a:xfrm>
          <a:prstGeom prst="ellipse">
            <a:avLst/>
          </a:prstGeom>
          <a:solidFill>
            <a:schemeClr val="tx2"/>
          </a:solidFill>
          <a:ln/>
        </p:spPr>
      </p:sp>
      <p:pic>
        <p:nvPicPr>
          <p:cNvPr id="4" name="Icône Airbyte" descr="Icône Airbyte">    </p:cNvPr>
          <p:cNvPicPr>
            <a:picLocks noChangeAspect="1"/>
          </p:cNvPicPr>
          <p:nvPr/>
        </p:nvPicPr>
        <p:blipFill>
          <a:blip r:embed="rId1"/>
          <a:stretch>
            <a:fillRect/>
          </a:stretch>
        </p:blipFill>
        <p:spPr>
          <a:xfrm>
            <a:off x="713232" y="1536192"/>
            <a:ext cx="356616" cy="356616"/>
          </a:xfrm>
          <a:prstGeom prst="rect">
            <a:avLst/>
          </a:prstGeom>
        </p:spPr>
      </p:pic>
      <p:sp>
        <p:nvSpPr>
          <p:cNvPr id="5" name="Titre Airbyte"/>
          <p:cNvSpPr txBox="1"/>
          <p:nvPr/>
        </p:nvSpPr>
        <p:spPr>
          <a:xfrm>
            <a:off x="1417320" y="1371600"/>
            <a:ext cx="4114800" cy="685800"/>
          </a:xfrm>
          <a:prstGeom prst="rect">
            <a:avLst/>
          </a:prstGeom>
          <a:noFill/>
          <a:ln/>
        </p:spPr>
        <p:txBody>
          <a:bodyPr wrap="square" lIns="0" tIns="0" rIns="0" bIns="0" rtlCol="0" anchor="ctr"/>
          <a:lstStyle/>
          <a:p>
            <a:pPr indent="0" marL="0">
              <a:buNone/>
            </a:pPr>
            <a:r>
              <a:rPr lang="en-US" sz="2200" b="1" dirty="0">
                <a:solidFill>
                  <a:schemeClr val="tx2"/>
                </a:solidFill>
              </a:rPr>
              <a:t>Airbyte</a:t>
            </a:r>
            <a:endParaRPr lang="en-US" sz="2200" dirty="0"/>
          </a:p>
        </p:txBody>
      </p:sp>
      <p:sp>
        <p:nvSpPr>
          <p:cNvPr id="6" name="Liste Airbyte"/>
          <p:cNvSpPr txBox="1"/>
          <p:nvPr/>
        </p:nvSpPr>
        <p:spPr>
          <a:xfrm>
            <a:off x="548640" y="2286000"/>
            <a:ext cx="534924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PyAirbyte et le connecteur officiel source-file (parquet en HTTPS)</a:t>
            </a:r>
            <a:endParaRPr lang="en-US" sz="1600" dirty="0"/>
          </a:p>
          <a:p>
            <a:pPr marL="342900" indent="-342900">
              <a:spcAft>
                <a:spcPts val="800"/>
              </a:spcAft>
              <a:buSzPct val="100000"/>
              <a:buChar char="•"/>
            </a:pPr>
            <a:r>
              <a:rPr lang="en-US" sz="1600" dirty="0">
                <a:solidFill>
                  <a:schemeClr val="tx1"/>
                </a:solidFill>
              </a:rPr>
              <a:t>Écriture dans le schéma raw de PostgreSQL, en mode ajout</a:t>
            </a:r>
            <a:endParaRPr lang="en-US" sz="1600" dirty="0"/>
          </a:p>
          <a:p>
            <a:pPr marL="342900" indent="-342900">
              <a:spcAft>
                <a:spcPts val="800"/>
              </a:spcAft>
              <a:buSzPct val="100000"/>
              <a:buChar char="•"/>
            </a:pPr>
            <a:r>
              <a:rPr lang="en-US" sz="1600" dirty="0">
                <a:solidFill>
                  <a:schemeClr val="tx1"/>
                </a:solidFill>
              </a:rPr>
              <a:t>Connecteur isolé en Python 3.11, préinstallé dans l'image</a:t>
            </a:r>
            <a:endParaRPr lang="en-US" sz="1600" dirty="0"/>
          </a:p>
          <a:p>
            <a:pPr marL="342900" indent="-342900">
              <a:spcAft>
                <a:spcPts val="800"/>
              </a:spcAft>
              <a:buSzPct val="100000"/>
              <a:buChar char="•"/>
            </a:pPr>
            <a:r>
              <a:rPr lang="en-US" sz="1600" dirty="0">
                <a:solidFill>
                  <a:schemeClr val="tx1"/>
                </a:solidFill>
              </a:rPr>
              <a:t>2 reprises automatiques en cas d'échec</a:t>
            </a:r>
            <a:endParaRPr lang="en-US" sz="1600" dirty="0"/>
          </a:p>
        </p:txBody>
      </p:sp>
      <p:sp>
        <p:nvSpPr>
          <p:cNvPr id="7" name="Icône Staging SQL (fond)"/>
          <p:cNvSpPr/>
          <p:nvPr/>
        </p:nvSpPr>
        <p:spPr>
          <a:xfrm>
            <a:off x="6263640" y="1371600"/>
            <a:ext cx="685800" cy="685800"/>
          </a:xfrm>
          <a:prstGeom prst="ellipse">
            <a:avLst/>
          </a:prstGeom>
          <a:solidFill>
            <a:schemeClr val="tx2"/>
          </a:solidFill>
          <a:ln/>
        </p:spPr>
      </p:sp>
      <p:pic>
        <p:nvPicPr>
          <p:cNvPr id="8" name="Icône Staging SQL" descr="Icône Staging SQL">    </p:cNvPr>
          <p:cNvPicPr>
            <a:picLocks noChangeAspect="1"/>
          </p:cNvPicPr>
          <p:nvPr/>
        </p:nvPicPr>
        <p:blipFill>
          <a:blip r:embed="rId2"/>
          <a:stretch>
            <a:fillRect/>
          </a:stretch>
        </p:blipFill>
        <p:spPr>
          <a:xfrm>
            <a:off x="6428232" y="1536192"/>
            <a:ext cx="356616" cy="356616"/>
          </a:xfrm>
          <a:prstGeom prst="rect">
            <a:avLst/>
          </a:prstGeom>
        </p:spPr>
      </p:pic>
      <p:sp>
        <p:nvSpPr>
          <p:cNvPr id="9" name="Titre Staging SQL"/>
          <p:cNvSpPr txBox="1"/>
          <p:nvPr/>
        </p:nvSpPr>
        <p:spPr>
          <a:xfrm>
            <a:off x="7132320" y="1371600"/>
            <a:ext cx="4114800" cy="685800"/>
          </a:xfrm>
          <a:prstGeom prst="rect">
            <a:avLst/>
          </a:prstGeom>
          <a:noFill/>
          <a:ln/>
        </p:spPr>
        <p:txBody>
          <a:bodyPr wrap="square" lIns="0" tIns="0" rIns="0" bIns="0" rtlCol="0" anchor="ctr"/>
          <a:lstStyle/>
          <a:p>
            <a:pPr indent="0" marL="0">
              <a:buNone/>
            </a:pPr>
            <a:r>
              <a:rPr lang="en-US" sz="2200" b="1" dirty="0">
                <a:solidFill>
                  <a:schemeClr val="tx2"/>
                </a:solidFill>
              </a:rPr>
              <a:t>Staging SQL</a:t>
            </a:r>
            <a:endParaRPr lang="en-US" sz="2200" dirty="0"/>
          </a:p>
        </p:txBody>
      </p:sp>
      <p:sp>
        <p:nvSpPr>
          <p:cNvPr id="10" name="Liste Staging SQL"/>
          <p:cNvSpPr txBox="1"/>
          <p:nvPr/>
        </p:nvSpPr>
        <p:spPr>
          <a:xfrm>
            <a:off x="6263640" y="2286000"/>
            <a:ext cx="5349240" cy="25603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Une seule requête : DISTINCT ON et filtre ≥ 500 caractères</a:t>
            </a:r>
            <a:endParaRPr lang="en-US" sz="1600" dirty="0"/>
          </a:p>
          <a:p>
            <a:pPr marL="342900" indent="-342900">
              <a:spcAft>
                <a:spcPts val="800"/>
              </a:spcAft>
              <a:buSzPct val="100000"/>
              <a:buChar char="•"/>
            </a:pPr>
            <a:r>
              <a:rPr lang="en-US" sz="1600" dirty="0">
                <a:solidFill>
                  <a:schemeClr val="tx1"/>
                </a:solidFill>
              </a:rPr>
              <a:t>Empreinte md5 : seuls les articles modifiés sont réécrits</a:t>
            </a:r>
            <a:endParaRPr lang="en-US" sz="1600" dirty="0"/>
          </a:p>
          <a:p>
            <a:pPr marL="342900" indent="-342900">
              <a:spcAft>
                <a:spcPts val="800"/>
              </a:spcAft>
              <a:buSzPct val="100000"/>
              <a:buChar char="•"/>
            </a:pPr>
            <a:r>
              <a:rPr lang="en-US" sz="1600" dirty="0">
                <a:solidFill>
                  <a:schemeClr val="tx1"/>
                </a:solidFill>
              </a:rPr>
              <a:t>Leurs anciens passages sont supprimés, puis revectorisés</a:t>
            </a:r>
            <a:endParaRPr lang="en-US" sz="1600" dirty="0"/>
          </a:p>
          <a:p>
            <a:pPr marL="342900" indent="-342900">
              <a:spcAft>
                <a:spcPts val="800"/>
              </a:spcAft>
              <a:buSzPct val="100000"/>
              <a:buChar char="•"/>
            </a:pPr>
            <a:r>
              <a:rPr lang="en-US" sz="1600" dirty="0">
                <a:solidFill>
                  <a:schemeClr val="tx1"/>
                </a:solidFill>
              </a:rPr>
              <a:t>Zone brute vidée après chaque run</a:t>
            </a:r>
            <a:endParaRPr lang="en-US" sz="1600" dirty="0"/>
          </a:p>
        </p:txBody>
      </p:sp>
      <p:sp>
        <p:nvSpPr>
          <p:cNvPr id="11" name="Bandeau chiffres"/>
          <p:cNvSpPr/>
          <p:nvPr/>
        </p:nvSpPr>
        <p:spPr>
          <a:xfrm>
            <a:off x="548640" y="5074920"/>
            <a:ext cx="11064240" cy="1051560"/>
          </a:xfrm>
          <a:prstGeom prst="roundRect">
            <a:avLst>
              <a:gd name="adj" fmla="val 10435"/>
            </a:avLst>
          </a:prstGeom>
          <a:solidFill>
            <a:schemeClr val="bg2"/>
          </a:solidFill>
          <a:ln/>
        </p:spPr>
      </p:sp>
      <p:sp>
        <p:nvSpPr>
          <p:cNvPr id="12" name="Chiffres collecte"/>
          <p:cNvSpPr txBox="1"/>
          <p:nvPr/>
        </p:nvSpPr>
        <p:spPr>
          <a:xfrm>
            <a:off x="822960" y="5074920"/>
            <a:ext cx="10515600" cy="1051560"/>
          </a:xfrm>
          <a:prstGeom prst="rect">
            <a:avLst/>
          </a:prstGeom>
          <a:noFill/>
          <a:ln/>
        </p:spPr>
        <p:txBody>
          <a:bodyPr wrap="square" lIns="0" tIns="0" rIns="0" bIns="0" rtlCol="0" anchor="ctr"/>
          <a:lstStyle/>
          <a:p>
            <a:pPr indent="0" marL="0">
              <a:buNone/>
            </a:pPr>
            <a:r>
              <a:rPr lang="en-US" sz="1900" b="1" dirty="0">
                <a:solidFill>
                  <a:schemeClr val="tx2"/>
                </a:solidFill>
              </a:rPr>
              <a:t>150 861</a:t>
            </a:r>
            <a:pPr indent="0" marL="0">
              <a:buNone/>
            </a:pPr>
            <a:r>
              <a:rPr lang="en-US" sz="1900" dirty="0">
                <a:solidFill>
                  <a:schemeClr val="tx1"/>
                </a:solidFill>
              </a:rPr>
              <a:t> articles lus   →   </a:t>
            </a:r>
            <a:pPr indent="0" marL="0">
              <a:buNone/>
            </a:pPr>
            <a:r>
              <a:rPr lang="en-US" sz="1900" b="1" dirty="0">
                <a:solidFill>
                  <a:schemeClr val="tx2"/>
                </a:solidFill>
              </a:rPr>
              <a:t>112 313</a:t>
            </a:r>
            <a:pPr indent="0" marL="0">
              <a:buNone/>
            </a:pPr>
            <a:r>
              <a:rPr lang="en-US" sz="1900" dirty="0">
                <a:solidFill>
                  <a:schemeClr val="tx1"/>
                </a:solidFill>
              </a:rPr>
              <a:t> articles retenus   ·   collecte et staging du fichier 16 en </a:t>
            </a:r>
            <a:pPr indent="0" marL="0">
              <a:buNone/>
            </a:pPr>
            <a:r>
              <a:rPr lang="en-US" sz="1900" b="1" dirty="0">
                <a:solidFill>
                  <a:schemeClr val="accent4"/>
                </a:solidFill>
              </a:rPr>
              <a:t>~2 min</a:t>
            </a:r>
            <a:endParaRPr lang="en-US" sz="19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Traitement distribué : Ray Data</a:t>
            </a:r>
            <a:endParaRPr lang="en-US" sz="3000" dirty="0"/>
          </a:p>
        </p:txBody>
      </p:sp>
      <p:sp>
        <p:nvSpPr>
          <p:cNvPr id="3" name="Étape Ray 1"/>
          <p:cNvSpPr/>
          <p:nvPr/>
        </p:nvSpPr>
        <p:spPr>
          <a:xfrm>
            <a:off x="548640" y="1371600"/>
            <a:ext cx="6035040" cy="1005840"/>
          </a:xfrm>
          <a:prstGeom prst="roundRect">
            <a:avLst>
              <a:gd name="adj" fmla="val 10909"/>
            </a:avLst>
          </a:prstGeom>
          <a:solidFill>
            <a:schemeClr val="bg2"/>
          </a:solidFill>
          <a:ln/>
        </p:spPr>
      </p:sp>
      <p:sp>
        <p:nvSpPr>
          <p:cNvPr id="4" name="Numéro 1"/>
          <p:cNvSpPr txBox="1"/>
          <p:nvPr/>
        </p:nvSpPr>
        <p:spPr>
          <a:xfrm>
            <a:off x="777240" y="1554480"/>
            <a:ext cx="640080" cy="640080"/>
          </a:xfrm>
          <a:prstGeom prst="rect">
            <a:avLst/>
          </a:prstGeom>
          <a:noFill/>
          <a:ln/>
        </p:spPr>
        <p:txBody>
          <a:bodyPr wrap="square" lIns="0" tIns="0" rIns="0" bIns="0" rtlCol="0" anchor="ctr"/>
          <a:lstStyle/>
          <a:p>
            <a:pPr algn="ctr" indent="0" marL="0">
              <a:buNone/>
            </a:pPr>
            <a:r>
              <a:rPr lang="en-US" sz="2800" b="1" dirty="0">
                <a:solidFill>
                  <a:schemeClr val="accent4"/>
                </a:solidFill>
              </a:rPr>
              <a:t>1</a:t>
            </a:r>
            <a:endParaRPr lang="en-US" sz="2800" dirty="0"/>
          </a:p>
        </p:txBody>
      </p:sp>
      <p:sp>
        <p:nvSpPr>
          <p:cNvPr id="5" name="Texte étape Ray 1"/>
          <p:cNvSpPr txBox="1"/>
          <p:nvPr/>
        </p:nvSpPr>
        <p:spPr>
          <a:xfrm>
            <a:off x="1600200" y="1463040"/>
            <a:ext cx="4846320" cy="822960"/>
          </a:xfrm>
          <a:prstGeom prst="rect">
            <a:avLst/>
          </a:prstGeom>
          <a:noFill/>
          <a:ln/>
        </p:spPr>
        <p:txBody>
          <a:bodyPr wrap="square" lIns="0" tIns="0" rIns="0" bIns="0" rtlCol="0" anchor="ctr"/>
          <a:lstStyle/>
          <a:p>
            <a:pPr indent="0" marL="0">
              <a:buNone/>
            </a:pPr>
            <a:r>
              <a:rPr lang="en-US" sz="1800" b="1" dirty="0">
                <a:solidFill>
                  <a:schemeClr val="tx2"/>
                </a:solidFill>
              </a:rPr>
              <a:t>Lecture et découpage</a:t>
            </a:r>
            <a:endParaRPr lang="en-US" sz="1800" dirty="0"/>
          </a:p>
          <a:p>
            <a:pPr indent="0" marL="0">
              <a:buNone/>
            </a:pPr>
            <a:r>
              <a:rPr lang="en-US" sz="1500" dirty="0">
                <a:solidFill>
                  <a:schemeClr val="tx1"/>
                </a:solidFill>
              </a:rPr>
              <a:t>tâches de 200 articles · 0,5 CPU chacune</a:t>
            </a:r>
            <a:endParaRPr lang="en-US" sz="1800" dirty="0"/>
          </a:p>
        </p:txBody>
      </p:sp>
      <p:sp>
        <p:nvSpPr>
          <p:cNvPr id="6" name="Étape Ray 2"/>
          <p:cNvSpPr/>
          <p:nvPr/>
        </p:nvSpPr>
        <p:spPr>
          <a:xfrm>
            <a:off x="548640" y="2651760"/>
            <a:ext cx="6035040" cy="1005840"/>
          </a:xfrm>
          <a:prstGeom prst="roundRect">
            <a:avLst>
              <a:gd name="adj" fmla="val 10909"/>
            </a:avLst>
          </a:prstGeom>
          <a:solidFill>
            <a:schemeClr val="bg2"/>
          </a:solidFill>
          <a:ln/>
        </p:spPr>
      </p:sp>
      <p:sp>
        <p:nvSpPr>
          <p:cNvPr id="7" name="Numéro 2"/>
          <p:cNvSpPr txBox="1"/>
          <p:nvPr/>
        </p:nvSpPr>
        <p:spPr>
          <a:xfrm>
            <a:off x="777240" y="2834640"/>
            <a:ext cx="640080" cy="640080"/>
          </a:xfrm>
          <a:prstGeom prst="rect">
            <a:avLst/>
          </a:prstGeom>
          <a:noFill/>
          <a:ln/>
        </p:spPr>
        <p:txBody>
          <a:bodyPr wrap="square" lIns="0" tIns="0" rIns="0" bIns="0" rtlCol="0" anchor="ctr"/>
          <a:lstStyle/>
          <a:p>
            <a:pPr algn="ctr" indent="0" marL="0">
              <a:buNone/>
            </a:pPr>
            <a:r>
              <a:rPr lang="en-US" sz="2800" b="1" dirty="0">
                <a:solidFill>
                  <a:schemeClr val="accent4"/>
                </a:solidFill>
              </a:rPr>
              <a:t>2</a:t>
            </a:r>
            <a:endParaRPr lang="en-US" sz="2800" dirty="0"/>
          </a:p>
        </p:txBody>
      </p:sp>
      <p:sp>
        <p:nvSpPr>
          <p:cNvPr id="8" name="Texte étape Ray 2"/>
          <p:cNvSpPr txBox="1"/>
          <p:nvPr/>
        </p:nvSpPr>
        <p:spPr>
          <a:xfrm>
            <a:off x="1600200" y="2743200"/>
            <a:ext cx="4846320" cy="822960"/>
          </a:xfrm>
          <a:prstGeom prst="rect">
            <a:avLst/>
          </a:prstGeom>
          <a:noFill/>
          <a:ln/>
        </p:spPr>
        <p:txBody>
          <a:bodyPr wrap="square" lIns="0" tIns="0" rIns="0" bIns="0" rtlCol="0" anchor="ctr"/>
          <a:lstStyle/>
          <a:p>
            <a:pPr indent="0" marL="0">
              <a:buNone/>
            </a:pPr>
            <a:r>
              <a:rPr lang="en-US" sz="1800" b="1" dirty="0">
                <a:solidFill>
                  <a:schemeClr val="tx2"/>
                </a:solidFill>
              </a:rPr>
              <a:t>Embeddings</a:t>
            </a:r>
            <a:endParaRPr lang="en-US" sz="1800" dirty="0"/>
          </a:p>
          <a:p>
            <a:pPr indent="0" marL="0">
              <a:buNone/>
            </a:pPr>
            <a:r>
              <a:rPr lang="en-US" sz="1500" dirty="0">
                <a:solidFill>
                  <a:schemeClr val="tx1"/>
                </a:solidFill>
              </a:rPr>
              <a:t>1 acteur de 2 CPU par worker · modèle chargé une seule fois</a:t>
            </a:r>
            <a:endParaRPr lang="en-US" sz="1800" dirty="0"/>
          </a:p>
        </p:txBody>
      </p:sp>
      <p:sp>
        <p:nvSpPr>
          <p:cNvPr id="9" name="Étape Ray 3"/>
          <p:cNvSpPr/>
          <p:nvPr/>
        </p:nvSpPr>
        <p:spPr>
          <a:xfrm>
            <a:off x="548640" y="3931920"/>
            <a:ext cx="6035040" cy="1005840"/>
          </a:xfrm>
          <a:prstGeom prst="roundRect">
            <a:avLst>
              <a:gd name="adj" fmla="val 10909"/>
            </a:avLst>
          </a:prstGeom>
          <a:solidFill>
            <a:schemeClr val="bg2"/>
          </a:solidFill>
          <a:ln/>
        </p:spPr>
      </p:sp>
      <p:sp>
        <p:nvSpPr>
          <p:cNvPr id="10" name="Numéro 3"/>
          <p:cNvSpPr txBox="1"/>
          <p:nvPr/>
        </p:nvSpPr>
        <p:spPr>
          <a:xfrm>
            <a:off x="777240" y="4114800"/>
            <a:ext cx="640080" cy="640080"/>
          </a:xfrm>
          <a:prstGeom prst="rect">
            <a:avLst/>
          </a:prstGeom>
          <a:noFill/>
          <a:ln/>
        </p:spPr>
        <p:txBody>
          <a:bodyPr wrap="square" lIns="0" tIns="0" rIns="0" bIns="0" rtlCol="0" anchor="ctr"/>
          <a:lstStyle/>
          <a:p>
            <a:pPr algn="ctr" indent="0" marL="0">
              <a:buNone/>
            </a:pPr>
            <a:r>
              <a:rPr lang="en-US" sz="2800" b="1" dirty="0">
                <a:solidFill>
                  <a:schemeClr val="accent4"/>
                </a:solidFill>
              </a:rPr>
              <a:t>3</a:t>
            </a:r>
            <a:endParaRPr lang="en-US" sz="2800" dirty="0"/>
          </a:p>
        </p:txBody>
      </p:sp>
      <p:sp>
        <p:nvSpPr>
          <p:cNvPr id="11" name="Texte étape Ray 3"/>
          <p:cNvSpPr txBox="1"/>
          <p:nvPr/>
        </p:nvSpPr>
        <p:spPr>
          <a:xfrm>
            <a:off x="1600200" y="4023360"/>
            <a:ext cx="4846320" cy="822960"/>
          </a:xfrm>
          <a:prstGeom prst="rect">
            <a:avLst/>
          </a:prstGeom>
          <a:noFill/>
          <a:ln/>
        </p:spPr>
        <p:txBody>
          <a:bodyPr wrap="square" lIns="0" tIns="0" rIns="0" bIns="0" rtlCol="0" anchor="ctr"/>
          <a:lstStyle/>
          <a:p>
            <a:pPr indent="0" marL="0">
              <a:buNone/>
            </a:pPr>
            <a:r>
              <a:rPr lang="en-US" sz="1800" b="1" dirty="0">
                <a:solidFill>
                  <a:schemeClr val="tx2"/>
                </a:solidFill>
              </a:rPr>
              <a:t>Écriture</a:t>
            </a:r>
            <a:endParaRPr lang="en-US" sz="1800" dirty="0"/>
          </a:p>
          <a:p>
            <a:pPr indent="0" marL="0">
              <a:buNone/>
            </a:pPr>
            <a:r>
              <a:rPr lang="en-US" sz="1500" dirty="0">
                <a:solidFill>
                  <a:schemeClr val="tx1"/>
                </a:solidFill>
              </a:rPr>
              <a:t>vecteurs dans Qdrant · métadonnées dans PostgreSQL</a:t>
            </a:r>
            <a:endParaRPr lang="en-US" sz="1800" dirty="0"/>
          </a:p>
        </p:txBody>
      </p:sp>
      <p:sp>
        <p:nvSpPr>
          <p:cNvPr id="12" name="Note flux"/>
          <p:cNvSpPr txBox="1"/>
          <p:nvPr/>
        </p:nvSpPr>
        <p:spPr>
          <a:xfrm>
            <a:off x="548640" y="5257800"/>
            <a:ext cx="6035040" cy="731520"/>
          </a:xfrm>
          <a:prstGeom prst="rect">
            <a:avLst/>
          </a:prstGeom>
          <a:noFill/>
          <a:ln/>
        </p:spPr>
        <p:txBody>
          <a:bodyPr wrap="square" lIns="0" tIns="0" rIns="0" bIns="0" rtlCol="0" anchor="ctr"/>
          <a:lstStyle/>
          <a:p>
            <a:pPr indent="0" marL="0">
              <a:buNone/>
            </a:pPr>
            <a:r>
              <a:rPr lang="en-US" sz="1500" i="1" dirty="0">
                <a:solidFill>
                  <a:schemeClr val="accent2"/>
                </a:solidFill>
              </a:rPr>
              <a:t>Exécution en flux : les premiers passages sont écrits pendant que les suivants sont encore calculés.</a:t>
            </a:r>
            <a:endParaRPr lang="en-US" sz="1500" dirty="0"/>
          </a:p>
        </p:txBody>
      </p:sp>
      <p:sp>
        <p:nvSpPr>
          <p:cNvPr id="13" name="Carte cluster"/>
          <p:cNvSpPr/>
          <p:nvPr/>
        </p:nvSpPr>
        <p:spPr>
          <a:xfrm>
            <a:off x="6949440" y="1371600"/>
            <a:ext cx="4663440" cy="4617720"/>
          </a:xfrm>
          <a:prstGeom prst="roundRect">
            <a:avLst>
              <a:gd name="adj" fmla="val 2376"/>
            </a:avLst>
          </a:prstGeom>
          <a:solidFill>
            <a:schemeClr val="tx2"/>
          </a:solidFill>
          <a:ln/>
        </p:spPr>
      </p:sp>
      <p:sp>
        <p:nvSpPr>
          <p:cNvPr id="14" name="Titre cluster"/>
          <p:cNvSpPr txBox="1"/>
          <p:nvPr/>
        </p:nvSpPr>
        <p:spPr>
          <a:xfrm>
            <a:off x="7269480" y="1600200"/>
            <a:ext cx="4023360" cy="457200"/>
          </a:xfrm>
          <a:prstGeom prst="rect">
            <a:avLst/>
          </a:prstGeom>
          <a:noFill/>
          <a:ln/>
        </p:spPr>
        <p:txBody>
          <a:bodyPr wrap="square" lIns="0" tIns="0" rIns="0" bIns="0" rtlCol="0" anchor="ctr"/>
          <a:lstStyle/>
          <a:p>
            <a:pPr indent="0" marL="0">
              <a:buNone/>
            </a:pPr>
            <a:r>
              <a:rPr lang="en-US" sz="2000" b="1" dirty="0">
                <a:solidFill>
                  <a:schemeClr val="accent1"/>
                </a:solidFill>
              </a:rPr>
              <a:t>Le cluster</a:t>
            </a:r>
            <a:endParaRPr lang="en-US" sz="2000" dirty="0"/>
          </a:p>
        </p:txBody>
      </p:sp>
      <p:sp>
        <p:nvSpPr>
          <p:cNvPr id="15" name="Liste cluster"/>
          <p:cNvSpPr txBox="1"/>
          <p:nvPr/>
        </p:nvSpPr>
        <p:spPr>
          <a:xfrm>
            <a:off x="7269480" y="2194560"/>
            <a:ext cx="4069080" cy="35661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1 head qui ne fait que coordonner</a:t>
            </a:r>
            <a:endParaRPr lang="en-US" sz="1600" dirty="0"/>
          </a:p>
          <a:p>
            <a:pPr marL="342900" indent="-342900">
              <a:spcAft>
                <a:spcPts val="800"/>
              </a:spcAft>
              <a:buSzPct val="100000"/>
              <a:buChar char="•"/>
            </a:pPr>
            <a:r>
              <a:rPr lang="en-US" sz="1600" dirty="0">
                <a:solidFill>
                  <a:schemeClr val="bg1"/>
                </a:solidFill>
              </a:rPr>
              <a:t>N workers de 3 CPU et 2 Go</a:t>
            </a:r>
            <a:endParaRPr lang="en-US" sz="1600" dirty="0"/>
          </a:p>
          <a:p>
            <a:pPr marL="342900" indent="-342900">
              <a:spcAft>
                <a:spcPts val="800"/>
              </a:spcAft>
              <a:buSzPct val="100000"/>
              <a:buChar char="•"/>
            </a:pPr>
            <a:r>
              <a:rPr lang="en-US" sz="1600" dirty="0">
                <a:solidFill>
                  <a:schemeClr val="bg1"/>
                </a:solidFill>
              </a:rPr>
              <a:t>Modèle MiniLM multilingue, 384 dimensions, sur CPU (FastEmbed)</a:t>
            </a:r>
            <a:endParaRPr lang="en-US" sz="1600" dirty="0"/>
          </a:p>
          <a:p>
            <a:pPr marL="342900" indent="-342900">
              <a:spcAft>
                <a:spcPts val="800"/>
              </a:spcAft>
              <a:buSzPct val="100000"/>
              <a:buChar char="•"/>
            </a:pPr>
            <a:r>
              <a:rPr lang="en-US" sz="1600" dirty="0">
                <a:solidFill>
                  <a:schemeClr val="bg1"/>
                </a:solidFill>
              </a:rPr>
              <a:t>Passages de 500 caractères, 75 de recouvrement</a:t>
            </a:r>
            <a:endParaRPr lang="en-US" sz="1600" dirty="0"/>
          </a:p>
          <a:p>
            <a:pPr marL="342900" indent="-342900">
              <a:spcAft>
                <a:spcPts val="800"/>
              </a:spcAft>
              <a:buSzPct val="100000"/>
              <a:buChar char="•"/>
            </a:pPr>
            <a:r>
              <a:rPr lang="en-US" sz="1600" dirty="0">
                <a:solidFill>
                  <a:schemeClr val="bg1"/>
                </a:solidFill>
              </a:rPr>
              <a:t>Identifiants déterministes : relancer ne crée aucun doublon</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Qdrant : la base vectorielle</a:t>
            </a:r>
            <a:endParaRPr lang="en-US" sz="3000" dirty="0"/>
          </a:p>
        </p:txBody>
      </p:sp>
      <p:sp>
        <p:nvSpPr>
          <p:cNvPr id="3" name="Icône 1 point = 1 passage (fond)"/>
          <p:cNvSpPr/>
          <p:nvPr/>
        </p:nvSpPr>
        <p:spPr>
          <a:xfrm>
            <a:off x="548640" y="1371600"/>
            <a:ext cx="685800" cy="685800"/>
          </a:xfrm>
          <a:prstGeom prst="ellipse">
            <a:avLst/>
          </a:prstGeom>
          <a:solidFill>
            <a:schemeClr val="accent2"/>
          </a:solidFill>
          <a:ln/>
        </p:spPr>
      </p:sp>
      <p:pic>
        <p:nvPicPr>
          <p:cNvPr id="4" name="Icône 1 point = 1 passage" descr="Icône 1 point = 1 passage">    </p:cNvPr>
          <p:cNvPicPr>
            <a:picLocks noChangeAspect="1"/>
          </p:cNvPicPr>
          <p:nvPr/>
        </p:nvPicPr>
        <p:blipFill>
          <a:blip r:embed="rId1"/>
          <a:stretch>
            <a:fillRect/>
          </a:stretch>
        </p:blipFill>
        <p:spPr>
          <a:xfrm>
            <a:off x="713232" y="1536192"/>
            <a:ext cx="356616" cy="356616"/>
          </a:xfrm>
          <a:prstGeom prst="rect">
            <a:avLst/>
          </a:prstGeom>
        </p:spPr>
      </p:pic>
      <p:sp>
        <p:nvSpPr>
          <p:cNvPr id="5" name="Atout 1"/>
          <p:cNvSpPr txBox="1"/>
          <p:nvPr/>
        </p:nvSpPr>
        <p:spPr>
          <a:xfrm>
            <a:off x="1417320" y="1280160"/>
            <a:ext cx="4754880" cy="914400"/>
          </a:xfrm>
          <a:prstGeom prst="rect">
            <a:avLst/>
          </a:prstGeom>
          <a:noFill/>
          <a:ln/>
        </p:spPr>
        <p:txBody>
          <a:bodyPr wrap="square" lIns="0" tIns="0" rIns="0" bIns="0" rtlCol="0" anchor="ctr"/>
          <a:lstStyle/>
          <a:p>
            <a:pPr indent="0" marL="0">
              <a:buNone/>
            </a:pPr>
            <a:r>
              <a:rPr lang="en-US" sz="1800" b="1" dirty="0">
                <a:solidFill>
                  <a:schemeClr val="tx2"/>
                </a:solidFill>
              </a:rPr>
              <a:t>1 point = 1 passage</a:t>
            </a:r>
            <a:endParaRPr lang="en-US" sz="1800" dirty="0"/>
          </a:p>
          <a:p>
            <a:pPr indent="0" marL="0">
              <a:buNone/>
            </a:pPr>
            <a:r>
              <a:rPr lang="en-US" sz="1500" dirty="0">
                <a:solidFill>
                  <a:schemeClr val="tx1"/>
                </a:solidFill>
              </a:rPr>
              <a:t>vecteur de 384 dimensions + titre, URL et texte</a:t>
            </a:r>
            <a:endParaRPr lang="en-US" sz="1800" dirty="0"/>
          </a:p>
        </p:txBody>
      </p:sp>
      <p:sp>
        <p:nvSpPr>
          <p:cNvPr id="6" name="Icône Quantification int8 (fond)"/>
          <p:cNvSpPr/>
          <p:nvPr/>
        </p:nvSpPr>
        <p:spPr>
          <a:xfrm>
            <a:off x="548640" y="2560320"/>
            <a:ext cx="685800" cy="685800"/>
          </a:xfrm>
          <a:prstGeom prst="ellipse">
            <a:avLst/>
          </a:prstGeom>
          <a:solidFill>
            <a:schemeClr val="accent2"/>
          </a:solidFill>
          <a:ln/>
        </p:spPr>
      </p:sp>
      <p:pic>
        <p:nvPicPr>
          <p:cNvPr id="7" name="Icône Quantification int8" descr="Icône Quantification int8">    </p:cNvPr>
          <p:cNvPicPr>
            <a:picLocks noChangeAspect="1"/>
          </p:cNvPicPr>
          <p:nvPr/>
        </p:nvPicPr>
        <p:blipFill>
          <a:blip r:embed="rId2"/>
          <a:stretch>
            <a:fillRect/>
          </a:stretch>
        </p:blipFill>
        <p:spPr>
          <a:xfrm>
            <a:off x="713232" y="2724912"/>
            <a:ext cx="356616" cy="356616"/>
          </a:xfrm>
          <a:prstGeom prst="rect">
            <a:avLst/>
          </a:prstGeom>
        </p:spPr>
      </p:pic>
      <p:sp>
        <p:nvSpPr>
          <p:cNvPr id="8" name="Atout 2"/>
          <p:cNvSpPr txBox="1"/>
          <p:nvPr/>
        </p:nvSpPr>
        <p:spPr>
          <a:xfrm>
            <a:off x="1417320" y="2468880"/>
            <a:ext cx="4754880" cy="914400"/>
          </a:xfrm>
          <a:prstGeom prst="rect">
            <a:avLst/>
          </a:prstGeom>
          <a:noFill/>
          <a:ln/>
        </p:spPr>
        <p:txBody>
          <a:bodyPr wrap="square" lIns="0" tIns="0" rIns="0" bIns="0" rtlCol="0" anchor="ctr"/>
          <a:lstStyle/>
          <a:p>
            <a:pPr indent="0" marL="0">
              <a:buNone/>
            </a:pPr>
            <a:r>
              <a:rPr lang="en-US" sz="1800" b="1" dirty="0">
                <a:solidFill>
                  <a:schemeClr val="tx2"/>
                </a:solidFill>
              </a:rPr>
              <a:t>Quantification int8</a:t>
            </a:r>
            <a:endParaRPr lang="en-US" sz="1800" dirty="0"/>
          </a:p>
          <a:p>
            <a:pPr indent="0" marL="0">
              <a:buNone/>
            </a:pPr>
            <a:r>
              <a:rPr lang="en-US" sz="1500" dirty="0">
                <a:solidFill>
                  <a:schemeClr val="tx1"/>
                </a:solidFill>
              </a:rPr>
              <a:t>4 fois moins de mémoire ; les meilleurs candidats sont recalculés exactement</a:t>
            </a:r>
            <a:endParaRPr lang="en-US" sz="1800" dirty="0"/>
          </a:p>
        </p:txBody>
      </p:sp>
      <p:sp>
        <p:nvSpPr>
          <p:cNvPr id="9" name="Icône Index de charge utile (fond)"/>
          <p:cNvSpPr/>
          <p:nvPr/>
        </p:nvSpPr>
        <p:spPr>
          <a:xfrm>
            <a:off x="548640" y="3749040"/>
            <a:ext cx="685800" cy="685800"/>
          </a:xfrm>
          <a:prstGeom prst="ellipse">
            <a:avLst/>
          </a:prstGeom>
          <a:solidFill>
            <a:schemeClr val="accent2"/>
          </a:solidFill>
          <a:ln/>
        </p:spPr>
      </p:sp>
      <p:pic>
        <p:nvPicPr>
          <p:cNvPr id="10" name="Icône Index de charge utile" descr="Icône Index de charge utile">    </p:cNvPr>
          <p:cNvPicPr>
            <a:picLocks noChangeAspect="1"/>
          </p:cNvPicPr>
          <p:nvPr/>
        </p:nvPicPr>
        <p:blipFill>
          <a:blip r:embed="rId3"/>
          <a:stretch>
            <a:fillRect/>
          </a:stretch>
        </p:blipFill>
        <p:spPr>
          <a:xfrm>
            <a:off x="713232" y="3913632"/>
            <a:ext cx="356616" cy="356616"/>
          </a:xfrm>
          <a:prstGeom prst="rect">
            <a:avLst/>
          </a:prstGeom>
        </p:spPr>
      </p:pic>
      <p:sp>
        <p:nvSpPr>
          <p:cNvPr id="11" name="Atout 3"/>
          <p:cNvSpPr txBox="1"/>
          <p:nvPr/>
        </p:nvSpPr>
        <p:spPr>
          <a:xfrm>
            <a:off x="1417320" y="3657600"/>
            <a:ext cx="4754880" cy="914400"/>
          </a:xfrm>
          <a:prstGeom prst="rect">
            <a:avLst/>
          </a:prstGeom>
          <a:noFill/>
          <a:ln/>
        </p:spPr>
        <p:txBody>
          <a:bodyPr wrap="square" lIns="0" tIns="0" rIns="0" bIns="0" rtlCol="0" anchor="ctr"/>
          <a:lstStyle/>
          <a:p>
            <a:pPr indent="0" marL="0">
              <a:buNone/>
            </a:pPr>
            <a:r>
              <a:rPr lang="en-US" sz="1800" b="1" dirty="0">
                <a:solidFill>
                  <a:schemeClr val="tx2"/>
                </a:solidFill>
              </a:rPr>
              <a:t>Index de charge utile</a:t>
            </a:r>
            <a:endParaRPr lang="en-US" sz="1800" dirty="0"/>
          </a:p>
          <a:p>
            <a:pPr indent="0" marL="0">
              <a:buNone/>
            </a:pPr>
            <a:r>
              <a:rPr lang="en-US" sz="1500" dirty="0">
                <a:solidFill>
                  <a:schemeClr val="tx1"/>
                </a:solidFill>
              </a:rPr>
              <a:t>doc_id pour les suppressions, titre pour le filtre plein texte</a:t>
            </a:r>
            <a:endParaRPr lang="en-US" sz="1800" dirty="0"/>
          </a:p>
        </p:txBody>
      </p:sp>
      <p:sp>
        <p:nvSpPr>
          <p:cNvPr id="12" name="Icône 140 ms (fond)"/>
          <p:cNvSpPr/>
          <p:nvPr/>
        </p:nvSpPr>
        <p:spPr>
          <a:xfrm>
            <a:off x="548640" y="4937760"/>
            <a:ext cx="685800" cy="685800"/>
          </a:xfrm>
          <a:prstGeom prst="ellipse">
            <a:avLst/>
          </a:prstGeom>
          <a:solidFill>
            <a:schemeClr val="accent2"/>
          </a:solidFill>
          <a:ln/>
        </p:spPr>
      </p:sp>
      <p:pic>
        <p:nvPicPr>
          <p:cNvPr id="13" name="Icône 140 ms" descr="Icône 140 ms">    </p:cNvPr>
          <p:cNvPicPr>
            <a:picLocks noChangeAspect="1"/>
          </p:cNvPicPr>
          <p:nvPr/>
        </p:nvPicPr>
        <p:blipFill>
          <a:blip r:embed="rId4"/>
          <a:stretch>
            <a:fillRect/>
          </a:stretch>
        </p:blipFill>
        <p:spPr>
          <a:xfrm>
            <a:off x="713232" y="5102352"/>
            <a:ext cx="356616" cy="356616"/>
          </a:xfrm>
          <a:prstGeom prst="rect">
            <a:avLst/>
          </a:prstGeom>
        </p:spPr>
      </p:pic>
      <p:sp>
        <p:nvSpPr>
          <p:cNvPr id="14" name="Atout 4"/>
          <p:cNvSpPr txBox="1"/>
          <p:nvPr/>
        </p:nvSpPr>
        <p:spPr>
          <a:xfrm>
            <a:off x="1417320" y="4846320"/>
            <a:ext cx="4754880" cy="914400"/>
          </a:xfrm>
          <a:prstGeom prst="rect">
            <a:avLst/>
          </a:prstGeom>
          <a:noFill/>
          <a:ln/>
        </p:spPr>
        <p:txBody>
          <a:bodyPr wrap="square" lIns="0" tIns="0" rIns="0" bIns="0" rtlCol="0" anchor="ctr"/>
          <a:lstStyle/>
          <a:p>
            <a:pPr indent="0" marL="0">
              <a:buNone/>
            </a:pPr>
            <a:r>
              <a:rPr lang="en-US" sz="1800" b="1" dirty="0">
                <a:solidFill>
                  <a:schemeClr val="tx2"/>
                </a:solidFill>
              </a:rPr>
              <a:t>140 ms</a:t>
            </a:r>
            <a:endParaRPr lang="en-US" sz="1800" dirty="0"/>
          </a:p>
          <a:p>
            <a:pPr indent="0" marL="0">
              <a:buNone/>
            </a:pPr>
            <a:r>
              <a:rPr lang="en-US" sz="1500" dirty="0">
                <a:solidFill>
                  <a:schemeClr val="tx1"/>
                </a:solidFill>
              </a:rPr>
              <a:t>durée médiane d'une recherche, vectorisation de la question comprise</a:t>
            </a:r>
            <a:endParaRPr lang="en-US" sz="1800" dirty="0"/>
          </a:p>
        </p:txBody>
      </p:sp>
      <p:sp>
        <p:nvSpPr>
          <p:cNvPr id="15" name="Capture Qdrant (cadre)"/>
          <p:cNvSpPr/>
          <p:nvPr/>
        </p:nvSpPr>
        <p:spPr>
          <a:xfrm>
            <a:off x="6464808" y="1709928"/>
            <a:ext cx="5175504" cy="3255264"/>
          </a:xfrm>
          <a:prstGeom prst="rect">
            <a:avLst/>
          </a:prstGeom>
          <a:solidFill>
            <a:schemeClr val="accent6"/>
          </a:solidFill>
          <a:ln/>
        </p:spPr>
      </p:sp>
      <p:pic>
        <p:nvPicPr>
          <p:cNvPr id="16" name="Capture Qdrant" descr="Capture Qdrant">    </p:cNvPr>
          <p:cNvPicPr>
            <a:picLocks noChangeAspect="1"/>
          </p:cNvPicPr>
          <p:nvPr/>
        </p:nvPicPr>
        <p:blipFill>
          <a:blip r:embed="rId5"/>
          <a:stretch>
            <a:fillRect/>
          </a:stretch>
        </p:blipFill>
        <p:spPr>
          <a:xfrm>
            <a:off x="6492240" y="1737360"/>
            <a:ext cx="5120640" cy="3200400"/>
          </a:xfrm>
          <a:prstGeom prst="rect">
            <a:avLst/>
          </a:prstGeom>
        </p:spPr>
      </p:pic>
      <p:sp>
        <p:nvSpPr>
          <p:cNvPr id="17" name="Légende Qdrant"/>
          <p:cNvSpPr txBox="1"/>
          <p:nvPr/>
        </p:nvSpPr>
        <p:spPr>
          <a:xfrm>
            <a:off x="6492240" y="5029200"/>
            <a:ext cx="5120640" cy="365760"/>
          </a:xfrm>
          <a:prstGeom prst="rect">
            <a:avLst/>
          </a:prstGeom>
          <a:noFill/>
          <a:ln/>
        </p:spPr>
        <p:txBody>
          <a:bodyPr wrap="square" lIns="0" tIns="0" rIns="0" bIns="0" rtlCol="0" anchor="ctr"/>
          <a:lstStyle/>
          <a:p>
            <a:pPr algn="ctr" indent="0" marL="0">
              <a:buNone/>
            </a:pPr>
            <a:r>
              <a:rPr lang="en-US" sz="1200" i="1" dirty="0">
                <a:solidFill>
                  <a:schemeClr val="accent3"/>
                </a:solidFill>
              </a:rPr>
              <a:t>Un point de la collection wikipedia_fr</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Orchestration : Prefect</a:t>
            </a:r>
            <a:endParaRPr lang="en-US" sz="3000" dirty="0"/>
          </a:p>
        </p:txBody>
      </p:sp>
      <p:sp>
        <p:nvSpPr>
          <p:cNvPr id="3" name="Capture Prefect (cadre)"/>
          <p:cNvSpPr/>
          <p:nvPr/>
        </p:nvSpPr>
        <p:spPr>
          <a:xfrm>
            <a:off x="521208" y="1344168"/>
            <a:ext cx="6364224" cy="3998214"/>
          </a:xfrm>
          <a:prstGeom prst="rect">
            <a:avLst/>
          </a:prstGeom>
          <a:solidFill>
            <a:schemeClr val="accent6"/>
          </a:solidFill>
          <a:ln/>
        </p:spPr>
      </p:sp>
      <p:pic>
        <p:nvPicPr>
          <p:cNvPr id="4" name="Capture Prefect" descr="Capture Prefect">    </p:cNvPr>
          <p:cNvPicPr>
            <a:picLocks noChangeAspect="1"/>
          </p:cNvPicPr>
          <p:nvPr/>
        </p:nvPicPr>
        <p:blipFill>
          <a:blip r:embed="rId1"/>
          <a:stretch>
            <a:fillRect/>
          </a:stretch>
        </p:blipFill>
        <p:spPr>
          <a:xfrm>
            <a:off x="548640" y="1371600"/>
            <a:ext cx="6309360" cy="3943350"/>
          </a:xfrm>
          <a:prstGeom prst="rect">
            <a:avLst/>
          </a:prstGeom>
        </p:spPr>
      </p:pic>
      <p:sp>
        <p:nvSpPr>
          <p:cNvPr id="5" name="Tâche 1"/>
          <p:cNvSpPr/>
          <p:nvPr/>
        </p:nvSpPr>
        <p:spPr>
          <a:xfrm>
            <a:off x="7223760" y="1371600"/>
            <a:ext cx="4389120" cy="713232"/>
          </a:xfrm>
          <a:prstGeom prst="roundRect">
            <a:avLst>
              <a:gd name="adj" fmla="val 15385"/>
            </a:avLst>
          </a:prstGeom>
          <a:solidFill>
            <a:schemeClr val="bg2"/>
          </a:solidFill>
          <a:ln/>
        </p:spPr>
      </p:sp>
      <p:sp>
        <p:nvSpPr>
          <p:cNvPr id="6" name="Texte tâche 1"/>
          <p:cNvSpPr txBox="1"/>
          <p:nvPr/>
        </p:nvSpPr>
        <p:spPr>
          <a:xfrm>
            <a:off x="7406640" y="1371600"/>
            <a:ext cx="4114800" cy="713232"/>
          </a:xfrm>
          <a:prstGeom prst="rect">
            <a:avLst/>
          </a:prstGeom>
          <a:noFill/>
          <a:ln/>
        </p:spPr>
        <p:txBody>
          <a:bodyPr wrap="square" lIns="0" tIns="0" rIns="0" bIns="0" rtlCol="0" anchor="ctr"/>
          <a:lstStyle/>
          <a:p>
            <a:pPr indent="0" marL="0">
              <a:buNone/>
            </a:pPr>
            <a:r>
              <a:rPr lang="en-US" sz="1500" b="1" dirty="0">
                <a:solidFill>
                  <a:schemeClr val="accent4"/>
                </a:solidFill>
              </a:rPr>
              <a:t>1  </a:t>
            </a:r>
            <a:pPr indent="0" marL="0">
              <a:buNone/>
            </a:pPr>
            <a:r>
              <a:rPr lang="en-US" sz="1500" b="1" dirty="0">
                <a:solidFill>
                  <a:schemeClr val="tx2"/>
                </a:solidFill>
              </a:rPr>
              <a:t>collecte-airbyte</a:t>
            </a:r>
            <a:pPr indent="0" marL="0">
              <a:buNone/>
            </a:pPr>
            <a:r>
              <a:rPr lang="en-US" sz="1500" dirty="0">
                <a:solidFill>
                  <a:schemeClr val="tx1"/>
                </a:solidFill>
              </a:rPr>
              <a:t>  ·  2 reprises automatiques</a:t>
            </a:r>
            <a:endParaRPr lang="en-US" sz="1500" dirty="0"/>
          </a:p>
        </p:txBody>
      </p:sp>
      <p:sp>
        <p:nvSpPr>
          <p:cNvPr id="7" name="Tâche 2"/>
          <p:cNvSpPr/>
          <p:nvPr/>
        </p:nvSpPr>
        <p:spPr>
          <a:xfrm>
            <a:off x="7223760" y="2240280"/>
            <a:ext cx="4389120" cy="713232"/>
          </a:xfrm>
          <a:prstGeom prst="roundRect">
            <a:avLst>
              <a:gd name="adj" fmla="val 15385"/>
            </a:avLst>
          </a:prstGeom>
          <a:solidFill>
            <a:schemeClr val="bg2"/>
          </a:solidFill>
          <a:ln/>
        </p:spPr>
      </p:sp>
      <p:sp>
        <p:nvSpPr>
          <p:cNvPr id="8" name="Texte tâche 2"/>
          <p:cNvSpPr txBox="1"/>
          <p:nvPr/>
        </p:nvSpPr>
        <p:spPr>
          <a:xfrm>
            <a:off x="7406640" y="2240280"/>
            <a:ext cx="4114800" cy="713232"/>
          </a:xfrm>
          <a:prstGeom prst="rect">
            <a:avLst/>
          </a:prstGeom>
          <a:noFill/>
          <a:ln/>
        </p:spPr>
        <p:txBody>
          <a:bodyPr wrap="square" lIns="0" tIns="0" rIns="0" bIns="0" rtlCol="0" anchor="ctr"/>
          <a:lstStyle/>
          <a:p>
            <a:pPr indent="0" marL="0">
              <a:buNone/>
            </a:pPr>
            <a:r>
              <a:rPr lang="en-US" sz="1500" b="1" dirty="0">
                <a:solidFill>
                  <a:schemeClr val="accent4"/>
                </a:solidFill>
              </a:rPr>
              <a:t>2  </a:t>
            </a:r>
            <a:pPr indent="0" marL="0">
              <a:buNone/>
            </a:pPr>
            <a:r>
              <a:rPr lang="en-US" sz="1500" b="1" dirty="0">
                <a:solidFill>
                  <a:schemeClr val="tx2"/>
                </a:solidFill>
              </a:rPr>
              <a:t>staging-postgres</a:t>
            </a:r>
            <a:pPr indent="0" marL="0">
              <a:buNone/>
            </a:pPr>
            <a:r>
              <a:rPr lang="en-US" sz="1500" dirty="0">
                <a:solidFill>
                  <a:schemeClr val="tx1"/>
                </a:solidFill>
              </a:rPr>
              <a:t>  ·  dédoublonnage et filtre</a:t>
            </a:r>
            <a:endParaRPr lang="en-US" sz="1500" dirty="0"/>
          </a:p>
        </p:txBody>
      </p:sp>
      <p:sp>
        <p:nvSpPr>
          <p:cNvPr id="9" name="Tâche 3"/>
          <p:cNvSpPr/>
          <p:nvPr/>
        </p:nvSpPr>
        <p:spPr>
          <a:xfrm>
            <a:off x="7223760" y="3108960"/>
            <a:ext cx="4389120" cy="713232"/>
          </a:xfrm>
          <a:prstGeom prst="roundRect">
            <a:avLst>
              <a:gd name="adj" fmla="val 15385"/>
            </a:avLst>
          </a:prstGeom>
          <a:solidFill>
            <a:schemeClr val="bg2"/>
          </a:solidFill>
          <a:ln/>
        </p:spPr>
      </p:sp>
      <p:sp>
        <p:nvSpPr>
          <p:cNvPr id="10" name="Texte tâche 3"/>
          <p:cNvSpPr txBox="1"/>
          <p:nvPr/>
        </p:nvSpPr>
        <p:spPr>
          <a:xfrm>
            <a:off x="7406640" y="3108960"/>
            <a:ext cx="4114800" cy="713232"/>
          </a:xfrm>
          <a:prstGeom prst="rect">
            <a:avLst/>
          </a:prstGeom>
          <a:noFill/>
          <a:ln/>
        </p:spPr>
        <p:txBody>
          <a:bodyPr wrap="square" lIns="0" tIns="0" rIns="0" bIns="0" rtlCol="0" anchor="ctr"/>
          <a:lstStyle/>
          <a:p>
            <a:pPr indent="0" marL="0">
              <a:buNone/>
            </a:pPr>
            <a:r>
              <a:rPr lang="en-US" sz="1500" b="1" dirty="0">
                <a:solidFill>
                  <a:schemeClr val="accent4"/>
                </a:solidFill>
              </a:rPr>
              <a:t>3  </a:t>
            </a:r>
            <a:pPr indent="0" marL="0">
              <a:buNone/>
            </a:pPr>
            <a:r>
              <a:rPr lang="en-US" sz="1500" b="1" dirty="0">
                <a:solidFill>
                  <a:schemeClr val="tx2"/>
                </a:solidFill>
              </a:rPr>
              <a:t>vectorisation-ray</a:t>
            </a:r>
            <a:pPr indent="0" marL="0">
              <a:buNone/>
            </a:pPr>
            <a:r>
              <a:rPr lang="en-US" sz="1500" dirty="0">
                <a:solidFill>
                  <a:schemeClr val="tx1"/>
                </a:solidFill>
              </a:rPr>
              <a:t>  ·  job soumis au cluster Ray</a:t>
            </a:r>
            <a:endParaRPr lang="en-US" sz="1500" dirty="0"/>
          </a:p>
        </p:txBody>
      </p:sp>
      <p:sp>
        <p:nvSpPr>
          <p:cNvPr id="11" name="Tâche 4"/>
          <p:cNvSpPr/>
          <p:nvPr/>
        </p:nvSpPr>
        <p:spPr>
          <a:xfrm>
            <a:off x="7223760" y="3977640"/>
            <a:ext cx="4389120" cy="713232"/>
          </a:xfrm>
          <a:prstGeom prst="roundRect">
            <a:avLst>
              <a:gd name="adj" fmla="val 15385"/>
            </a:avLst>
          </a:prstGeom>
          <a:solidFill>
            <a:schemeClr val="bg2"/>
          </a:solidFill>
          <a:ln/>
        </p:spPr>
      </p:sp>
      <p:sp>
        <p:nvSpPr>
          <p:cNvPr id="12" name="Texte tâche 4"/>
          <p:cNvSpPr txBox="1"/>
          <p:nvPr/>
        </p:nvSpPr>
        <p:spPr>
          <a:xfrm>
            <a:off x="7406640" y="3977640"/>
            <a:ext cx="4114800" cy="713232"/>
          </a:xfrm>
          <a:prstGeom prst="rect">
            <a:avLst/>
          </a:prstGeom>
          <a:noFill/>
          <a:ln/>
        </p:spPr>
        <p:txBody>
          <a:bodyPr wrap="square" lIns="0" tIns="0" rIns="0" bIns="0" rtlCol="0" anchor="ctr"/>
          <a:lstStyle/>
          <a:p>
            <a:pPr indent="0" marL="0">
              <a:buNone/>
            </a:pPr>
            <a:r>
              <a:rPr lang="en-US" sz="1500" b="1" dirty="0">
                <a:solidFill>
                  <a:schemeClr val="accent4"/>
                </a:solidFill>
              </a:rPr>
              <a:t>4  </a:t>
            </a:r>
            <a:pPr indent="0" marL="0">
              <a:buNone/>
            </a:pPr>
            <a:r>
              <a:rPr lang="en-US" sz="1500" b="1" dirty="0">
                <a:solidFill>
                  <a:schemeClr val="tx2"/>
                </a:solidFill>
              </a:rPr>
              <a:t>controles-qualite</a:t>
            </a:r>
            <a:pPr indent="0" marL="0">
              <a:buNone/>
            </a:pPr>
            <a:r>
              <a:rPr lang="en-US" sz="1500" dirty="0">
                <a:solidFill>
                  <a:schemeClr val="tx1"/>
                </a:solidFill>
              </a:rPr>
              <a:t>  ·  PostgreSQL = Qdrant ?</a:t>
            </a:r>
            <a:endParaRPr lang="en-US" sz="1500" dirty="0"/>
          </a:p>
        </p:txBody>
      </p:sp>
      <p:sp>
        <p:nvSpPr>
          <p:cNvPr id="13" name="Note Prefect"/>
          <p:cNvSpPr txBox="1"/>
          <p:nvPr/>
        </p:nvSpPr>
        <p:spPr>
          <a:xfrm>
            <a:off x="7223760" y="4937760"/>
            <a:ext cx="4389120" cy="1097280"/>
          </a:xfrm>
          <a:prstGeom prst="rect">
            <a:avLst/>
          </a:prstGeom>
          <a:noFill/>
          <a:ln/>
        </p:spPr>
        <p:txBody>
          <a:bodyPr wrap="square" lIns="0" tIns="0" rIns="0" bIns="0" rtlCol="0" anchor="t"/>
          <a:lstStyle/>
          <a:p>
            <a:pPr indent="0" marL="0">
              <a:buNone/>
            </a:pPr>
            <a:r>
              <a:rPr lang="en-US" sz="1500" dirty="0">
                <a:solidFill>
                  <a:schemeClr val="tx1"/>
                </a:solidFill>
              </a:rPr>
              <a:t>Déploiement planifié chaque nuit à 2 h, paramètres modifiables depuis l'interface, chaque run tracé dans pipeline_runs.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L'application Gradio</a:t>
            </a:r>
            <a:endParaRPr lang="en-US" sz="3000" dirty="0"/>
          </a:p>
        </p:txBody>
      </p:sp>
      <p:sp>
        <p:nvSpPr>
          <p:cNvPr id="3" name="Capture Gradio (cadre)"/>
          <p:cNvSpPr/>
          <p:nvPr/>
        </p:nvSpPr>
        <p:spPr>
          <a:xfrm>
            <a:off x="521208" y="1344168"/>
            <a:ext cx="7095744" cy="4455414"/>
          </a:xfrm>
          <a:prstGeom prst="rect">
            <a:avLst/>
          </a:prstGeom>
          <a:solidFill>
            <a:schemeClr val="accent6"/>
          </a:solidFill>
          <a:ln/>
        </p:spPr>
      </p:sp>
      <p:pic>
        <p:nvPicPr>
          <p:cNvPr id="4" name="Capture Gradio" descr="Capture Gradio">    </p:cNvPr>
          <p:cNvPicPr>
            <a:picLocks noChangeAspect="1"/>
          </p:cNvPicPr>
          <p:nvPr/>
        </p:nvPicPr>
        <p:blipFill>
          <a:blip r:embed="rId1"/>
          <a:stretch>
            <a:fillRect/>
          </a:stretch>
        </p:blipFill>
        <p:spPr>
          <a:xfrm>
            <a:off x="548640" y="1371600"/>
            <a:ext cx="7040880" cy="4400550"/>
          </a:xfrm>
          <a:prstGeom prst="rect">
            <a:avLst/>
          </a:prstGeom>
        </p:spPr>
      </p:pic>
      <p:sp>
        <p:nvSpPr>
          <p:cNvPr id="5" name="Icône Assistant (fond)"/>
          <p:cNvSpPr/>
          <p:nvPr/>
        </p:nvSpPr>
        <p:spPr>
          <a:xfrm>
            <a:off x="7955280" y="1371600"/>
            <a:ext cx="640080" cy="640080"/>
          </a:xfrm>
          <a:prstGeom prst="ellipse">
            <a:avLst/>
          </a:prstGeom>
          <a:solidFill>
            <a:schemeClr val="accent2"/>
          </a:solidFill>
          <a:ln/>
        </p:spPr>
      </p:sp>
      <p:pic>
        <p:nvPicPr>
          <p:cNvPr id="6" name="Icône Assistant" descr="Icône Assistant">    </p:cNvPr>
          <p:cNvPicPr>
            <a:picLocks noChangeAspect="1"/>
          </p:cNvPicPr>
          <p:nvPr/>
        </p:nvPicPr>
        <p:blipFill>
          <a:blip r:embed="rId2"/>
          <a:stretch>
            <a:fillRect/>
          </a:stretch>
        </p:blipFill>
        <p:spPr>
          <a:xfrm>
            <a:off x="8108899" y="1525219"/>
            <a:ext cx="332842" cy="332842"/>
          </a:xfrm>
          <a:prstGeom prst="rect">
            <a:avLst/>
          </a:prstGeom>
        </p:spPr>
      </p:pic>
      <p:sp>
        <p:nvSpPr>
          <p:cNvPr id="7" name="Onglet Assistant"/>
          <p:cNvSpPr txBox="1"/>
          <p:nvPr/>
        </p:nvSpPr>
        <p:spPr>
          <a:xfrm>
            <a:off x="8732520" y="1280160"/>
            <a:ext cx="2880360" cy="1051560"/>
          </a:xfrm>
          <a:prstGeom prst="rect">
            <a:avLst/>
          </a:prstGeom>
          <a:noFill/>
          <a:ln/>
        </p:spPr>
        <p:txBody>
          <a:bodyPr wrap="square" lIns="0" tIns="0" rIns="0" bIns="0" rtlCol="0" anchor="t"/>
          <a:lstStyle/>
          <a:p>
            <a:pPr indent="0" marL="0">
              <a:buNone/>
            </a:pPr>
            <a:r>
              <a:rPr lang="en-US" sz="1700" b="1" dirty="0">
                <a:solidFill>
                  <a:schemeClr val="tx2"/>
                </a:solidFill>
              </a:rPr>
              <a:t>Assistant</a:t>
            </a:r>
            <a:endParaRPr lang="en-US" sz="1700" dirty="0"/>
          </a:p>
          <a:p>
            <a:pPr indent="0" marL="0">
              <a:buNone/>
            </a:pPr>
            <a:r>
              <a:rPr lang="en-US" sz="1400" dirty="0">
                <a:solidFill>
                  <a:schemeClr val="tx1"/>
                </a:solidFill>
              </a:rPr>
              <a:t>réponse diffusée au fil de l'eau, sources avec score et lien</a:t>
            </a:r>
            <a:endParaRPr lang="en-US" sz="1700" dirty="0"/>
          </a:p>
        </p:txBody>
      </p:sp>
      <p:sp>
        <p:nvSpPr>
          <p:cNvPr id="8" name="Icône Recherche sémantique (fond)"/>
          <p:cNvSpPr/>
          <p:nvPr/>
        </p:nvSpPr>
        <p:spPr>
          <a:xfrm>
            <a:off x="7955280" y="2606040"/>
            <a:ext cx="640080" cy="640080"/>
          </a:xfrm>
          <a:prstGeom prst="ellipse">
            <a:avLst/>
          </a:prstGeom>
          <a:solidFill>
            <a:schemeClr val="accent2"/>
          </a:solidFill>
          <a:ln/>
        </p:spPr>
      </p:sp>
      <p:pic>
        <p:nvPicPr>
          <p:cNvPr id="9" name="Icône Recherche sémantique" descr="Icône Recherche sémantique">    </p:cNvPr>
          <p:cNvPicPr>
            <a:picLocks noChangeAspect="1"/>
          </p:cNvPicPr>
          <p:nvPr/>
        </p:nvPicPr>
        <p:blipFill>
          <a:blip r:embed="rId3"/>
          <a:stretch>
            <a:fillRect/>
          </a:stretch>
        </p:blipFill>
        <p:spPr>
          <a:xfrm>
            <a:off x="8108899" y="2759659"/>
            <a:ext cx="332842" cy="332842"/>
          </a:xfrm>
          <a:prstGeom prst="rect">
            <a:avLst/>
          </a:prstGeom>
        </p:spPr>
      </p:pic>
      <p:sp>
        <p:nvSpPr>
          <p:cNvPr id="10" name="Onglet Recherche sémantique"/>
          <p:cNvSpPr txBox="1"/>
          <p:nvPr/>
        </p:nvSpPr>
        <p:spPr>
          <a:xfrm>
            <a:off x="8732520" y="2514600"/>
            <a:ext cx="2880360" cy="1051560"/>
          </a:xfrm>
          <a:prstGeom prst="rect">
            <a:avLst/>
          </a:prstGeom>
          <a:noFill/>
          <a:ln/>
        </p:spPr>
        <p:txBody>
          <a:bodyPr wrap="square" lIns="0" tIns="0" rIns="0" bIns="0" rtlCol="0" anchor="t"/>
          <a:lstStyle/>
          <a:p>
            <a:pPr indent="0" marL="0">
              <a:buNone/>
            </a:pPr>
            <a:r>
              <a:rPr lang="en-US" sz="1700" b="1" dirty="0">
                <a:solidFill>
                  <a:schemeClr val="tx2"/>
                </a:solidFill>
              </a:rPr>
              <a:t>Recherche sémantique</a:t>
            </a:r>
            <a:endParaRPr lang="en-US" sz="1700" dirty="0"/>
          </a:p>
          <a:p>
            <a:pPr indent="0" marL="0">
              <a:buNone/>
            </a:pPr>
            <a:r>
              <a:rPr lang="en-US" sz="1400" dirty="0">
                <a:solidFill>
                  <a:schemeClr val="tx1"/>
                </a:solidFill>
              </a:rPr>
              <a:t>passages les plus proches, filtre sur le titre</a:t>
            </a:r>
            <a:endParaRPr lang="en-US" sz="1700" dirty="0"/>
          </a:p>
        </p:txBody>
      </p:sp>
      <p:sp>
        <p:nvSpPr>
          <p:cNvPr id="11" name="Icône Pipeline (fond)"/>
          <p:cNvSpPr/>
          <p:nvPr/>
        </p:nvSpPr>
        <p:spPr>
          <a:xfrm>
            <a:off x="7955280" y="3840480"/>
            <a:ext cx="640080" cy="640080"/>
          </a:xfrm>
          <a:prstGeom prst="ellipse">
            <a:avLst/>
          </a:prstGeom>
          <a:solidFill>
            <a:schemeClr val="accent2"/>
          </a:solidFill>
          <a:ln/>
        </p:spPr>
      </p:sp>
      <p:pic>
        <p:nvPicPr>
          <p:cNvPr id="12" name="Icône Pipeline" descr="Icône Pipeline">    </p:cNvPr>
          <p:cNvPicPr>
            <a:picLocks noChangeAspect="1"/>
          </p:cNvPicPr>
          <p:nvPr/>
        </p:nvPicPr>
        <p:blipFill>
          <a:blip r:embed="rId4"/>
          <a:stretch>
            <a:fillRect/>
          </a:stretch>
        </p:blipFill>
        <p:spPr>
          <a:xfrm>
            <a:off x="8108899" y="3994099"/>
            <a:ext cx="332842" cy="332842"/>
          </a:xfrm>
          <a:prstGeom prst="rect">
            <a:avLst/>
          </a:prstGeom>
        </p:spPr>
      </p:pic>
      <p:sp>
        <p:nvSpPr>
          <p:cNvPr id="13" name="Onglet Pipeline"/>
          <p:cNvSpPr txBox="1"/>
          <p:nvPr/>
        </p:nvSpPr>
        <p:spPr>
          <a:xfrm>
            <a:off x="8732520" y="3749040"/>
            <a:ext cx="2880360" cy="1051560"/>
          </a:xfrm>
          <a:prstGeom prst="rect">
            <a:avLst/>
          </a:prstGeom>
          <a:noFill/>
          <a:ln/>
        </p:spPr>
        <p:txBody>
          <a:bodyPr wrap="square" lIns="0" tIns="0" rIns="0" bIns="0" rtlCol="0" anchor="t"/>
          <a:lstStyle/>
          <a:p>
            <a:pPr indent="0" marL="0">
              <a:buNone/>
            </a:pPr>
            <a:r>
              <a:rPr lang="en-US" sz="1700" b="1" dirty="0">
                <a:solidFill>
                  <a:schemeClr val="tx2"/>
                </a:solidFill>
              </a:rPr>
              <a:t>Pipeline</a:t>
            </a:r>
            <a:endParaRPr lang="en-US" sz="1700" dirty="0"/>
          </a:p>
          <a:p>
            <a:pPr indent="0" marL="0">
              <a:buNone/>
            </a:pPr>
            <a:r>
              <a:rPr lang="en-US" sz="1400" dirty="0">
                <a:solidFill>
                  <a:schemeClr val="tx1"/>
                </a:solidFill>
              </a:rPr>
              <a:t>volumes, derniers runs et questions posées</a:t>
            </a:r>
            <a:endParaRPr lang="en-US" sz="1700" dirty="0"/>
          </a:p>
        </p:txBody>
      </p:sp>
      <p:sp>
        <p:nvSpPr>
          <p:cNvPr id="14" name="Note Gradio"/>
          <p:cNvSpPr txBox="1"/>
          <p:nvPr/>
        </p:nvSpPr>
        <p:spPr>
          <a:xfrm>
            <a:off x="7955280" y="5120640"/>
            <a:ext cx="3657600" cy="731520"/>
          </a:xfrm>
          <a:prstGeom prst="rect">
            <a:avLst/>
          </a:prstGeom>
          <a:noFill/>
          <a:ln/>
        </p:spPr>
        <p:txBody>
          <a:bodyPr wrap="square" lIns="0" tIns="0" rIns="0" bIns="0" rtlCol="0" anchor="ctr"/>
          <a:lstStyle/>
          <a:p>
            <a:pPr indent="0" marL="0">
              <a:buNone/>
            </a:pPr>
            <a:r>
              <a:rPr lang="en-US" sz="1400" i="1" dirty="0">
                <a:solidFill>
                  <a:schemeClr val="accent2"/>
                </a:solidFill>
              </a:rPr>
              <a:t>Chaque question est enregistrée : scores, durées et sources.</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Optimiser le cluster : débit multiplié par 9,7</a:t>
            </a:r>
            <a:endParaRPr lang="en-US" sz="3000" dirty="0"/>
          </a:p>
        </p:txBody>
      </p:sp>
      <p:graphicFrame>
        <p:nvGraphicFramePr>
          <p:cNvPr id="3" name="Graphique débit" descr=""/>
          <p:cNvGraphicFramePr/>
          <p:nvPr/>
        </p:nvGraphicFramePr>
        <p:xfrm>
          <a:off x="548640" y="1325880"/>
          <a:ext cx="6766560" cy="4754880"/>
        </p:xfrm>
        <a:graphic xmlns:a="http://schemas.openxmlformats.org/drawingml/2006/main">
          <a:graphicData uri="http://schemas.openxmlformats.org/drawingml/2006/chart">
            <c:chart xmlns:c="http://schemas.openxmlformats.org/drawingml/2006/chart" r:id="rId1"/>
          </a:graphicData>
        </a:graphic>
      </p:graphicFrame>
      <p:sp>
        <p:nvSpPr>
          <p:cNvPr id="4" name="Cause 1"/>
          <p:cNvSpPr/>
          <p:nvPr/>
        </p:nvSpPr>
        <p:spPr>
          <a:xfrm>
            <a:off x="7680960" y="1463040"/>
            <a:ext cx="3931920" cy="1097280"/>
          </a:xfrm>
          <a:prstGeom prst="roundRect">
            <a:avLst>
              <a:gd name="adj" fmla="val 10000"/>
            </a:avLst>
          </a:prstGeom>
          <a:solidFill>
            <a:schemeClr val="bg2"/>
          </a:solidFill>
          <a:ln/>
        </p:spPr>
      </p:sp>
      <p:sp>
        <p:nvSpPr>
          <p:cNvPr id="5" name="Texte cause 1"/>
          <p:cNvSpPr txBox="1"/>
          <p:nvPr/>
        </p:nvSpPr>
        <p:spPr>
          <a:xfrm>
            <a:off x="7863840" y="1463040"/>
            <a:ext cx="3611880" cy="1097280"/>
          </a:xfrm>
          <a:prstGeom prst="rect">
            <a:avLst/>
          </a:prstGeom>
          <a:noFill/>
          <a:ln/>
        </p:spPr>
        <p:txBody>
          <a:bodyPr wrap="square" lIns="0" tIns="0" rIns="0" bIns="0" rtlCol="0" anchor="ctr"/>
          <a:lstStyle/>
          <a:p>
            <a:pPr indent="0" marL="0">
              <a:buNone/>
            </a:pPr>
            <a:r>
              <a:rPr lang="en-US" sz="1600" b="1" dirty="0">
                <a:solidFill>
                  <a:schemeClr val="tx2"/>
                </a:solidFill>
              </a:rPr>
              <a:t>Head coordinateur seul</a:t>
            </a:r>
            <a:endParaRPr lang="en-US" sz="1600" dirty="0"/>
          </a:p>
          <a:p>
            <a:pPr indent="0" marL="0">
              <a:buNone/>
            </a:pPr>
            <a:r>
              <a:rPr lang="en-US" sz="1400" dirty="0">
                <a:solidFill>
                  <a:schemeClr val="tx1"/>
                </a:solidFill>
              </a:rPr>
              <a:t>Il exécutait aussi des tâches, et l'écriture a été tuée 41 fois.</a:t>
            </a:r>
            <a:endParaRPr lang="en-US" sz="1600" dirty="0"/>
          </a:p>
        </p:txBody>
      </p:sp>
      <p:sp>
        <p:nvSpPr>
          <p:cNvPr id="6" name="Cause 2"/>
          <p:cNvSpPr/>
          <p:nvPr/>
        </p:nvSpPr>
        <p:spPr>
          <a:xfrm>
            <a:off x="7680960" y="2788920"/>
            <a:ext cx="3931920" cy="1097280"/>
          </a:xfrm>
          <a:prstGeom prst="roundRect">
            <a:avLst>
              <a:gd name="adj" fmla="val 10000"/>
            </a:avLst>
          </a:prstGeom>
          <a:solidFill>
            <a:schemeClr val="bg2"/>
          </a:solidFill>
          <a:ln/>
        </p:spPr>
      </p:sp>
      <p:sp>
        <p:nvSpPr>
          <p:cNvPr id="7" name="Texte cause 2"/>
          <p:cNvSpPr txBox="1"/>
          <p:nvPr/>
        </p:nvSpPr>
        <p:spPr>
          <a:xfrm>
            <a:off x="7863840" y="2788920"/>
            <a:ext cx="3611880" cy="1097280"/>
          </a:xfrm>
          <a:prstGeom prst="rect">
            <a:avLst/>
          </a:prstGeom>
          <a:noFill/>
          <a:ln/>
        </p:spPr>
        <p:txBody>
          <a:bodyPr wrap="square" lIns="0" tIns="0" rIns="0" bIns="0" rtlCol="0" anchor="ctr"/>
          <a:lstStyle/>
          <a:p>
            <a:pPr indent="0" marL="0">
              <a:buNone/>
            </a:pPr>
            <a:r>
              <a:rPr lang="en-US" sz="1600" b="1" dirty="0">
                <a:solidFill>
                  <a:schemeClr val="tx2"/>
                </a:solidFill>
              </a:rPr>
              <a:t>3 CPU par worker</a:t>
            </a:r>
            <a:endParaRPr lang="en-US" sz="1600" dirty="0"/>
          </a:p>
          <a:p>
            <a:pPr indent="0" marL="0">
              <a:buNone/>
            </a:pPr>
            <a:r>
              <a:rPr lang="en-US" sz="1400" dirty="0">
                <a:solidFill>
                  <a:schemeClr val="tx1"/>
                </a:solidFill>
              </a:rPr>
              <a:t>Lecture et découpage fusionnés en une seule tâche.</a:t>
            </a:r>
            <a:endParaRPr lang="en-US" sz="1600" dirty="0"/>
          </a:p>
        </p:txBody>
      </p:sp>
      <p:sp>
        <p:nvSpPr>
          <p:cNvPr id="8" name="Cause 3"/>
          <p:cNvSpPr/>
          <p:nvPr/>
        </p:nvSpPr>
        <p:spPr>
          <a:xfrm>
            <a:off x="7680960" y="4114800"/>
            <a:ext cx="3931920" cy="1097280"/>
          </a:xfrm>
          <a:prstGeom prst="roundRect">
            <a:avLst>
              <a:gd name="adj" fmla="val 10000"/>
            </a:avLst>
          </a:prstGeom>
          <a:solidFill>
            <a:schemeClr val="bg2"/>
          </a:solidFill>
          <a:ln/>
        </p:spPr>
      </p:sp>
      <p:sp>
        <p:nvSpPr>
          <p:cNvPr id="9" name="Texte cause 3"/>
          <p:cNvSpPr txBox="1"/>
          <p:nvPr/>
        </p:nvSpPr>
        <p:spPr>
          <a:xfrm>
            <a:off x="7863840" y="4114800"/>
            <a:ext cx="3611880" cy="1097280"/>
          </a:xfrm>
          <a:prstGeom prst="rect">
            <a:avLst/>
          </a:prstGeom>
          <a:noFill/>
          <a:ln/>
        </p:spPr>
        <p:txBody>
          <a:bodyPr wrap="square" lIns="0" tIns="0" rIns="0" bIns="0" rtlCol="0" anchor="ctr"/>
          <a:lstStyle/>
          <a:p>
            <a:pPr indent="0" marL="0">
              <a:buNone/>
            </a:pPr>
            <a:r>
              <a:rPr lang="en-US" sz="1600" b="1" dirty="0">
                <a:solidFill>
                  <a:schemeClr val="tx2"/>
                </a:solidFill>
              </a:rPr>
              <a:t>Passages adaptés au modèle</a:t>
            </a:r>
            <a:endParaRPr lang="en-US" sz="1600" dirty="0"/>
          </a:p>
          <a:p>
            <a:pPr indent="0" marL="0">
              <a:buNone/>
            </a:pPr>
            <a:r>
              <a:rPr lang="en-US" sz="1400" dirty="0">
                <a:solidFill>
                  <a:schemeClr val="tx1"/>
                </a:solidFill>
              </a:rPr>
              <a:t>500 caractères au lieu de 1 000 : plus rien n'est tronqué.</a:t>
            </a:r>
            <a:endParaRPr lang="en-US" sz="1600" dirty="0"/>
          </a:p>
        </p:txBody>
      </p:sp>
      <p:sp>
        <p:nvSpPr>
          <p:cNvPr id="10" name="Projection"/>
          <p:cNvSpPr txBox="1"/>
          <p:nvPr/>
        </p:nvSpPr>
        <p:spPr>
          <a:xfrm>
            <a:off x="7680960" y="5486400"/>
            <a:ext cx="3931920" cy="640080"/>
          </a:xfrm>
          <a:prstGeom prst="rect">
            <a:avLst/>
          </a:prstGeom>
          <a:noFill/>
          <a:ln/>
        </p:spPr>
        <p:txBody>
          <a:bodyPr wrap="square" lIns="0" tIns="0" rIns="0" bIns="0" rtlCol="0" anchor="ctr"/>
          <a:lstStyle/>
          <a:p>
            <a:pPr indent="0" marL="0">
              <a:buNone/>
            </a:pPr>
            <a:r>
              <a:rPr lang="en-US" sz="1300" i="1" dirty="0">
                <a:solidFill>
                  <a:schemeClr val="accent3"/>
                </a:solidFill>
              </a:rPr>
              <a:t>À ce débit, le fichier 16 complet prendrait environ 8 h avec 1 worker.</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bg1"/>
                </a:solidFill>
              </a:rPr>
              <a:t>Qualité de la recherche</a:t>
            </a:r>
            <a:endParaRPr lang="en-US" sz="3000" dirty="0"/>
          </a:p>
        </p:txBody>
      </p:sp>
      <p:sp>
        <p:nvSpPr>
          <p:cNvPr id="3" name="Mesure 1"/>
          <p:cNvSpPr txBox="1"/>
          <p:nvPr/>
        </p:nvSpPr>
        <p:spPr>
          <a:xfrm>
            <a:off x="548640" y="1737360"/>
            <a:ext cx="2651760" cy="1005840"/>
          </a:xfrm>
          <a:prstGeom prst="rect">
            <a:avLst/>
          </a:prstGeom>
          <a:noFill/>
          <a:ln/>
        </p:spPr>
        <p:txBody>
          <a:bodyPr wrap="square" lIns="0" tIns="0" rIns="0" bIns="0" rtlCol="0" anchor="ctr"/>
          <a:lstStyle/>
          <a:p>
            <a:pPr indent="0" marL="0">
              <a:buNone/>
            </a:pPr>
            <a:r>
              <a:rPr lang="en-US" sz="4800" b="1" dirty="0">
                <a:solidFill>
                  <a:schemeClr val="accent1"/>
                </a:solidFill>
              </a:rPr>
              <a:t>86,7 %</a:t>
            </a:r>
            <a:endParaRPr lang="en-US" sz="4800" dirty="0"/>
          </a:p>
        </p:txBody>
      </p:sp>
      <p:sp>
        <p:nvSpPr>
          <p:cNvPr id="4" name="Libellé mesure 1"/>
          <p:cNvSpPr txBox="1"/>
          <p:nvPr/>
        </p:nvSpPr>
        <p:spPr>
          <a:xfrm>
            <a:off x="548640" y="2788920"/>
            <a:ext cx="2468880" cy="822960"/>
          </a:xfrm>
          <a:prstGeom prst="rect">
            <a:avLst/>
          </a:prstGeom>
          <a:noFill/>
          <a:ln/>
        </p:spPr>
        <p:txBody>
          <a:bodyPr wrap="square" lIns="0" tIns="0" rIns="0" bIns="0" rtlCol="0" anchor="t"/>
          <a:lstStyle/>
          <a:p>
            <a:pPr indent="0" marL="0">
              <a:buNone/>
            </a:pPr>
            <a:r>
              <a:rPr lang="en-US" sz="1600" dirty="0">
                <a:solidFill>
                  <a:schemeClr val="bg1"/>
                </a:solidFill>
              </a:rPr>
              <a:t>Hit@1 : bon article en 1re position</a:t>
            </a:r>
            <a:endParaRPr lang="en-US" sz="1600" dirty="0"/>
          </a:p>
        </p:txBody>
      </p:sp>
      <p:sp>
        <p:nvSpPr>
          <p:cNvPr id="5" name="Mesure 2"/>
          <p:cNvSpPr txBox="1"/>
          <p:nvPr/>
        </p:nvSpPr>
        <p:spPr>
          <a:xfrm>
            <a:off x="3392424" y="1737360"/>
            <a:ext cx="2651760" cy="1005840"/>
          </a:xfrm>
          <a:prstGeom prst="rect">
            <a:avLst/>
          </a:prstGeom>
          <a:noFill/>
          <a:ln/>
        </p:spPr>
        <p:txBody>
          <a:bodyPr wrap="square" lIns="0" tIns="0" rIns="0" bIns="0" rtlCol="0" anchor="ctr"/>
          <a:lstStyle/>
          <a:p>
            <a:pPr indent="0" marL="0">
              <a:buNone/>
            </a:pPr>
            <a:r>
              <a:rPr lang="en-US" sz="4800" b="1" dirty="0">
                <a:solidFill>
                  <a:schemeClr val="accent1"/>
                </a:solidFill>
              </a:rPr>
              <a:t>93,3 %</a:t>
            </a:r>
            <a:endParaRPr lang="en-US" sz="4800" dirty="0"/>
          </a:p>
        </p:txBody>
      </p:sp>
      <p:sp>
        <p:nvSpPr>
          <p:cNvPr id="6" name="Libellé mesure 2"/>
          <p:cNvSpPr txBox="1"/>
          <p:nvPr/>
        </p:nvSpPr>
        <p:spPr>
          <a:xfrm>
            <a:off x="3392424" y="2788920"/>
            <a:ext cx="2468880" cy="822960"/>
          </a:xfrm>
          <a:prstGeom prst="rect">
            <a:avLst/>
          </a:prstGeom>
          <a:noFill/>
          <a:ln/>
        </p:spPr>
        <p:txBody>
          <a:bodyPr wrap="square" lIns="0" tIns="0" rIns="0" bIns="0" rtlCol="0" anchor="t"/>
          <a:lstStyle/>
          <a:p>
            <a:pPr indent="0" marL="0">
              <a:buNone/>
            </a:pPr>
            <a:r>
              <a:rPr lang="en-US" sz="1600" dirty="0">
                <a:solidFill>
                  <a:schemeClr val="bg1"/>
                </a:solidFill>
              </a:rPr>
              <a:t>Hit@5 : bon article dans les 5 premiers</a:t>
            </a:r>
            <a:endParaRPr lang="en-US" sz="1600" dirty="0"/>
          </a:p>
        </p:txBody>
      </p:sp>
      <p:sp>
        <p:nvSpPr>
          <p:cNvPr id="7" name="Mesure 3"/>
          <p:cNvSpPr txBox="1"/>
          <p:nvPr/>
        </p:nvSpPr>
        <p:spPr>
          <a:xfrm>
            <a:off x="6236208" y="1737360"/>
            <a:ext cx="2651760" cy="1005840"/>
          </a:xfrm>
          <a:prstGeom prst="rect">
            <a:avLst/>
          </a:prstGeom>
          <a:noFill/>
          <a:ln/>
        </p:spPr>
        <p:txBody>
          <a:bodyPr wrap="square" lIns="0" tIns="0" rIns="0" bIns="0" rtlCol="0" anchor="ctr"/>
          <a:lstStyle/>
          <a:p>
            <a:pPr indent="0" marL="0">
              <a:buNone/>
            </a:pPr>
            <a:r>
              <a:rPr lang="en-US" sz="4800" b="1" dirty="0">
                <a:solidFill>
                  <a:schemeClr val="accent1"/>
                </a:solidFill>
              </a:rPr>
              <a:t>0,90</a:t>
            </a:r>
            <a:endParaRPr lang="en-US" sz="4800" dirty="0"/>
          </a:p>
        </p:txBody>
      </p:sp>
      <p:sp>
        <p:nvSpPr>
          <p:cNvPr id="8" name="Libellé mesure 3"/>
          <p:cNvSpPr txBox="1"/>
          <p:nvPr/>
        </p:nvSpPr>
        <p:spPr>
          <a:xfrm>
            <a:off x="6236208" y="2788920"/>
            <a:ext cx="2468880" cy="822960"/>
          </a:xfrm>
          <a:prstGeom prst="rect">
            <a:avLst/>
          </a:prstGeom>
          <a:noFill/>
          <a:ln/>
        </p:spPr>
        <p:txBody>
          <a:bodyPr wrap="square" lIns="0" tIns="0" rIns="0" bIns="0" rtlCol="0" anchor="t"/>
          <a:lstStyle/>
          <a:p>
            <a:pPr indent="0" marL="0">
              <a:buNone/>
            </a:pPr>
            <a:r>
              <a:rPr lang="en-US" sz="1600" dirty="0">
                <a:solidFill>
                  <a:schemeClr val="bg1"/>
                </a:solidFill>
              </a:rPr>
              <a:t>MRR@10, sur une échelle de 0 à 1</a:t>
            </a:r>
            <a:endParaRPr lang="en-US" sz="1600" dirty="0"/>
          </a:p>
        </p:txBody>
      </p:sp>
      <p:sp>
        <p:nvSpPr>
          <p:cNvPr id="9" name="Mesure 4"/>
          <p:cNvSpPr txBox="1"/>
          <p:nvPr/>
        </p:nvSpPr>
        <p:spPr>
          <a:xfrm>
            <a:off x="9079992" y="1737360"/>
            <a:ext cx="2651760" cy="1005840"/>
          </a:xfrm>
          <a:prstGeom prst="rect">
            <a:avLst/>
          </a:prstGeom>
          <a:noFill/>
          <a:ln/>
        </p:spPr>
        <p:txBody>
          <a:bodyPr wrap="square" lIns="0" tIns="0" rIns="0" bIns="0" rtlCol="0" anchor="ctr"/>
          <a:lstStyle/>
          <a:p>
            <a:pPr indent="0" marL="0">
              <a:buNone/>
            </a:pPr>
            <a:r>
              <a:rPr lang="en-US" sz="4800" b="1" dirty="0">
                <a:solidFill>
                  <a:schemeClr val="accent1"/>
                </a:solidFill>
              </a:rPr>
              <a:t>140 ms</a:t>
            </a:r>
            <a:endParaRPr lang="en-US" sz="4800" dirty="0"/>
          </a:p>
        </p:txBody>
      </p:sp>
      <p:sp>
        <p:nvSpPr>
          <p:cNvPr id="10" name="Libellé mesure 4"/>
          <p:cNvSpPr txBox="1"/>
          <p:nvPr/>
        </p:nvSpPr>
        <p:spPr>
          <a:xfrm>
            <a:off x="9079992" y="2788920"/>
            <a:ext cx="2468880" cy="822960"/>
          </a:xfrm>
          <a:prstGeom prst="rect">
            <a:avLst/>
          </a:prstGeom>
          <a:noFill/>
          <a:ln/>
        </p:spPr>
        <p:txBody>
          <a:bodyPr wrap="square" lIns="0" tIns="0" rIns="0" bIns="0" rtlCol="0" anchor="t"/>
          <a:lstStyle/>
          <a:p>
            <a:pPr indent="0" marL="0">
              <a:buNone/>
            </a:pPr>
            <a:r>
              <a:rPr lang="en-US" sz="1600" dirty="0">
                <a:solidFill>
                  <a:schemeClr val="bg1"/>
                </a:solidFill>
              </a:rPr>
              <a:t>durée médiane d'une recherche</a:t>
            </a:r>
            <a:endParaRPr lang="en-US" sz="1600" dirty="0"/>
          </a:p>
        </p:txBody>
      </p:sp>
      <p:sp>
        <p:nvSpPr>
          <p:cNvPr id="11" name="Méthode"/>
          <p:cNvSpPr txBox="1"/>
          <p:nvPr/>
        </p:nvSpPr>
        <p:spPr>
          <a:xfrm>
            <a:off x="548640" y="4069080"/>
            <a:ext cx="11064240" cy="1737360"/>
          </a:xfrm>
          <a:prstGeom prst="rect">
            <a:avLst/>
          </a:prstGeom>
          <a:noFill/>
          <a:ln/>
        </p:spPr>
        <p:txBody>
          <a:bodyPr wrap="square" lIns="0" tIns="0" rIns="0" bIns="0" rtlCol="0" anchor="t"/>
          <a:lstStyle/>
          <a:p>
            <a:pPr indent="0" marL="0">
              <a:spcAft>
                <a:spcPts val="1000"/>
              </a:spcAft>
              <a:buNone/>
            </a:pPr>
            <a:r>
              <a:rPr lang="en-US" sz="1500" b="1" dirty="0">
                <a:solidFill>
                  <a:schemeClr val="bg1"/>
                </a:solidFill>
              </a:rPr>
              <a:t>Méthode : </a:t>
            </a:r>
            <a:pPr indent="0" marL="0">
              <a:spcAft>
                <a:spcPts val="1000"/>
              </a:spcAft>
              <a:buNone/>
            </a:pPr>
            <a:r>
              <a:rPr lang="en-US" sz="1500" dirty="0">
                <a:solidFill>
                  <a:schemeClr val="accent5"/>
                </a:solidFill>
              </a:rPr>
              <a:t>60 questions écrites par le LLM à partir de passages tirés au hasard ; on vérifie si la recherche retrouve l'article d'origine. 57 articles sur 60 retrouvés dans le top 10. Les 5 réponses générées citent leurs sources, en 7,9 s (médiane).</a:t>
            </a:r>
            <a:endParaRPr lang="en-US" sz="1500" dirty="0"/>
          </a:p>
          <a:p>
            <a:pPr indent="0" marL="0">
              <a:spcAft>
                <a:spcPts val="1000"/>
              </a:spcAft>
              <a:buNone/>
            </a:pPr>
            <a:r>
              <a:rPr lang="en-US" sz="1500" b="1" dirty="0">
                <a:solidFill>
                  <a:schemeClr val="accent1"/>
                </a:solidFill>
              </a:rPr>
              <a:t>À nuancer : </a:t>
            </a:r>
            <a:pPr indent="0" marL="0">
              <a:spcAft>
                <a:spcPts val="1000"/>
              </a:spcAft>
              <a:buNone/>
            </a:pPr>
            <a:r>
              <a:rPr lang="en-US" sz="1500" dirty="0">
                <a:solidFill>
                  <a:schemeClr val="accent5"/>
                </a:solidFill>
              </a:rPr>
              <a:t>questions proches du texte et petit index (14 290 passages) ; à confirmer avec des questions écrites à la main.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Difficultés rencontrées et solutions</a:t>
            </a:r>
            <a:endParaRPr lang="en-US" sz="3000" dirty="0"/>
          </a:p>
        </p:txBody>
      </p:sp>
      <p:sp>
        <p:nvSpPr>
          <p:cNvPr id="3" name="Difficulté 1"/>
          <p:cNvSpPr/>
          <p:nvPr/>
        </p:nvSpPr>
        <p:spPr>
          <a:xfrm>
            <a:off x="548640" y="1371600"/>
            <a:ext cx="5394960" cy="2103120"/>
          </a:xfrm>
          <a:prstGeom prst="roundRect">
            <a:avLst>
              <a:gd name="adj" fmla="val 5217"/>
            </a:avLst>
          </a:prstGeom>
          <a:solidFill>
            <a:schemeClr val="bg2"/>
          </a:solidFill>
          <a:ln/>
        </p:spPr>
      </p:sp>
      <p:pic>
        <p:nvPicPr>
          <p:cNvPr id="4" name="Icône difficulté 1" descr="Difficulté">    </p:cNvPr>
          <p:cNvPicPr>
            <a:picLocks noChangeAspect="1"/>
          </p:cNvPicPr>
          <p:nvPr/>
        </p:nvPicPr>
        <p:blipFill>
          <a:blip r:embed="rId1"/>
          <a:stretch>
            <a:fillRect/>
          </a:stretch>
        </p:blipFill>
        <p:spPr>
          <a:xfrm>
            <a:off x="868680" y="1719072"/>
            <a:ext cx="365760" cy="365760"/>
          </a:xfrm>
          <a:prstGeom prst="rect">
            <a:avLst/>
          </a:prstGeom>
        </p:spPr>
      </p:pic>
      <p:sp>
        <p:nvSpPr>
          <p:cNvPr id="5" name="Problème 1"/>
          <p:cNvSpPr txBox="1"/>
          <p:nvPr/>
        </p:nvSpPr>
        <p:spPr>
          <a:xfrm>
            <a:off x="1417320" y="1600200"/>
            <a:ext cx="4297680" cy="594360"/>
          </a:xfrm>
          <a:prstGeom prst="rect">
            <a:avLst/>
          </a:prstGeom>
          <a:noFill/>
          <a:ln/>
        </p:spPr>
        <p:txBody>
          <a:bodyPr wrap="square" lIns="0" tIns="0" rIns="0" bIns="0" rtlCol="0" anchor="ctr"/>
          <a:lstStyle/>
          <a:p>
            <a:pPr indent="0" marL="0">
              <a:buNone/>
            </a:pPr>
            <a:r>
              <a:rPr lang="en-US" sz="1800" b="1" dirty="0">
                <a:solidFill>
                  <a:schemeClr val="tx2"/>
                </a:solidFill>
              </a:rPr>
              <a:t>Run 2 : 2 445 s pour 2 000 articles</a:t>
            </a:r>
            <a:endParaRPr lang="en-US" sz="1800" dirty="0"/>
          </a:p>
        </p:txBody>
      </p:sp>
      <p:sp>
        <p:nvSpPr>
          <p:cNvPr id="6" name="Solution 1"/>
          <p:cNvSpPr txBox="1"/>
          <p:nvPr/>
        </p:nvSpPr>
        <p:spPr>
          <a:xfrm>
            <a:off x="868680" y="2331720"/>
            <a:ext cx="4800600" cy="960120"/>
          </a:xfrm>
          <a:prstGeom prst="rect">
            <a:avLst/>
          </a:prstGeom>
          <a:noFill/>
          <a:ln/>
        </p:spPr>
        <p:txBody>
          <a:bodyPr wrap="square" lIns="0" tIns="0" rIns="0" bIns="0" rtlCol="0" anchor="t"/>
          <a:lstStyle/>
          <a:p>
            <a:pPr indent="0" marL="0">
              <a:buNone/>
            </a:pPr>
            <a:r>
              <a:rPr lang="en-US" sz="1500" b="1" dirty="0">
                <a:solidFill>
                  <a:schemeClr val="accent4"/>
                </a:solidFill>
              </a:rPr>
              <a:t>Solution : </a:t>
            </a:r>
            <a:pPr indent="0" marL="0">
              <a:buNone/>
            </a:pPr>
            <a:r>
              <a:rPr lang="en-US" sz="1500" dirty="0">
                <a:solidFill>
                  <a:schemeClr val="tx1"/>
                </a:solidFill>
              </a:rPr>
              <a:t>Head réservé à la coordination et 3 CPU par worker : 356 s.</a:t>
            </a:r>
            <a:endParaRPr lang="en-US" sz="1500" dirty="0"/>
          </a:p>
        </p:txBody>
      </p:sp>
      <p:sp>
        <p:nvSpPr>
          <p:cNvPr id="7" name="Difficulté 2"/>
          <p:cNvSpPr/>
          <p:nvPr/>
        </p:nvSpPr>
        <p:spPr>
          <a:xfrm>
            <a:off x="6217920" y="1371600"/>
            <a:ext cx="5394960" cy="2103120"/>
          </a:xfrm>
          <a:prstGeom prst="roundRect">
            <a:avLst>
              <a:gd name="adj" fmla="val 5217"/>
            </a:avLst>
          </a:prstGeom>
          <a:solidFill>
            <a:schemeClr val="bg2"/>
          </a:solidFill>
          <a:ln/>
        </p:spPr>
      </p:sp>
      <p:pic>
        <p:nvPicPr>
          <p:cNvPr id="8" name="Icône difficulté 2" descr="Difficulté">    </p:cNvPr>
          <p:cNvPicPr>
            <a:picLocks noChangeAspect="1"/>
          </p:cNvPicPr>
          <p:nvPr/>
        </p:nvPicPr>
        <p:blipFill>
          <a:blip r:embed="rId2"/>
          <a:stretch>
            <a:fillRect/>
          </a:stretch>
        </p:blipFill>
        <p:spPr>
          <a:xfrm>
            <a:off x="6537960" y="1719072"/>
            <a:ext cx="365760" cy="365760"/>
          </a:xfrm>
          <a:prstGeom prst="rect">
            <a:avLst/>
          </a:prstGeom>
        </p:spPr>
      </p:pic>
      <p:sp>
        <p:nvSpPr>
          <p:cNvPr id="9" name="Problème 2"/>
          <p:cNvSpPr txBox="1"/>
          <p:nvPr/>
        </p:nvSpPr>
        <p:spPr>
          <a:xfrm>
            <a:off x="7086600" y="1600200"/>
            <a:ext cx="4297680" cy="594360"/>
          </a:xfrm>
          <a:prstGeom prst="rect">
            <a:avLst/>
          </a:prstGeom>
          <a:noFill/>
          <a:ln/>
        </p:spPr>
        <p:txBody>
          <a:bodyPr wrap="square" lIns="0" tIns="0" rIns="0" bIns="0" rtlCol="0" anchor="ctr"/>
          <a:lstStyle/>
          <a:p>
            <a:pPr indent="0" marL="0">
              <a:buNone/>
            </a:pPr>
            <a:r>
              <a:rPr lang="en-US" sz="1800" b="1" dirty="0">
                <a:solidFill>
                  <a:schemeClr val="tx2"/>
                </a:solidFill>
              </a:rPr>
              <a:t>Ray tuait des tâches à tort</a:t>
            </a:r>
            <a:endParaRPr lang="en-US" sz="1800" dirty="0"/>
          </a:p>
        </p:txBody>
      </p:sp>
      <p:sp>
        <p:nvSpPr>
          <p:cNvPr id="10" name="Solution 2"/>
          <p:cNvSpPr txBox="1"/>
          <p:nvPr/>
        </p:nvSpPr>
        <p:spPr>
          <a:xfrm>
            <a:off x="6537960" y="2331720"/>
            <a:ext cx="4800600" cy="960120"/>
          </a:xfrm>
          <a:prstGeom prst="rect">
            <a:avLst/>
          </a:prstGeom>
          <a:noFill/>
          <a:ln/>
        </p:spPr>
        <p:txBody>
          <a:bodyPr wrap="square" lIns="0" tIns="0" rIns="0" bIns="0" rtlCol="0" anchor="t"/>
          <a:lstStyle/>
          <a:p>
            <a:pPr indent="0" marL="0">
              <a:buNone/>
            </a:pPr>
            <a:r>
              <a:rPr lang="en-US" sz="1500" b="1" dirty="0">
                <a:solidFill>
                  <a:schemeClr val="accent4"/>
                </a:solidFill>
              </a:rPr>
              <a:t>Solution : </a:t>
            </a:r>
            <a:pPr indent="0" marL="0">
              <a:buNone/>
            </a:pPr>
            <a:r>
              <a:rPr lang="en-US" sz="1500" dirty="0">
                <a:solidFill>
                  <a:schemeClr val="tx1"/>
                </a:solidFill>
              </a:rPr>
              <a:t>Il lisait la mémoire de toute la VM : limite par conteneur et mémoire fixée au démarrage.</a:t>
            </a:r>
            <a:endParaRPr lang="en-US" sz="1500" dirty="0"/>
          </a:p>
        </p:txBody>
      </p:sp>
      <p:sp>
        <p:nvSpPr>
          <p:cNvPr id="11" name="Difficulté 3"/>
          <p:cNvSpPr/>
          <p:nvPr/>
        </p:nvSpPr>
        <p:spPr>
          <a:xfrm>
            <a:off x="548640" y="3749040"/>
            <a:ext cx="5394960" cy="2103120"/>
          </a:xfrm>
          <a:prstGeom prst="roundRect">
            <a:avLst>
              <a:gd name="adj" fmla="val 5217"/>
            </a:avLst>
          </a:prstGeom>
          <a:solidFill>
            <a:schemeClr val="bg2"/>
          </a:solidFill>
          <a:ln/>
        </p:spPr>
      </p:sp>
      <p:pic>
        <p:nvPicPr>
          <p:cNvPr id="12" name="Icône difficulté 3" descr="Difficulté">    </p:cNvPr>
          <p:cNvPicPr>
            <a:picLocks noChangeAspect="1"/>
          </p:cNvPicPr>
          <p:nvPr/>
        </p:nvPicPr>
        <p:blipFill>
          <a:blip r:embed="rId3"/>
          <a:stretch>
            <a:fillRect/>
          </a:stretch>
        </p:blipFill>
        <p:spPr>
          <a:xfrm>
            <a:off x="868680" y="4096512"/>
            <a:ext cx="365760" cy="365760"/>
          </a:xfrm>
          <a:prstGeom prst="rect">
            <a:avLst/>
          </a:prstGeom>
        </p:spPr>
      </p:pic>
      <p:sp>
        <p:nvSpPr>
          <p:cNvPr id="13" name="Problème 3"/>
          <p:cNvSpPr txBox="1"/>
          <p:nvPr/>
        </p:nvSpPr>
        <p:spPr>
          <a:xfrm>
            <a:off x="1417320" y="3977640"/>
            <a:ext cx="4297680" cy="594360"/>
          </a:xfrm>
          <a:prstGeom prst="rect">
            <a:avLst/>
          </a:prstGeom>
          <a:noFill/>
          <a:ln/>
        </p:spPr>
        <p:txBody>
          <a:bodyPr wrap="square" lIns="0" tIns="0" rIns="0" bIns="0" rtlCol="0" anchor="ctr"/>
          <a:lstStyle/>
          <a:p>
            <a:pPr indent="0" marL="0">
              <a:buNone/>
            </a:pPr>
            <a:r>
              <a:rPr lang="en-US" sz="1800" b="1" dirty="0">
                <a:solidFill>
                  <a:schemeClr val="tx2"/>
                </a:solidFill>
              </a:rPr>
              <a:t>Passages tronqués par le modèle</a:t>
            </a:r>
            <a:endParaRPr lang="en-US" sz="1800" dirty="0"/>
          </a:p>
        </p:txBody>
      </p:sp>
      <p:sp>
        <p:nvSpPr>
          <p:cNvPr id="14" name="Solution 3"/>
          <p:cNvSpPr txBox="1"/>
          <p:nvPr/>
        </p:nvSpPr>
        <p:spPr>
          <a:xfrm>
            <a:off x="868680" y="4709160"/>
            <a:ext cx="4800600" cy="960120"/>
          </a:xfrm>
          <a:prstGeom prst="rect">
            <a:avLst/>
          </a:prstGeom>
          <a:noFill/>
          <a:ln/>
        </p:spPr>
        <p:txBody>
          <a:bodyPr wrap="square" lIns="0" tIns="0" rIns="0" bIns="0" rtlCol="0" anchor="t"/>
          <a:lstStyle/>
          <a:p>
            <a:pPr indent="0" marL="0">
              <a:buNone/>
            </a:pPr>
            <a:r>
              <a:rPr lang="en-US" sz="1500" b="1" dirty="0">
                <a:solidFill>
                  <a:schemeClr val="accent4"/>
                </a:solidFill>
              </a:rPr>
              <a:t>Solution : </a:t>
            </a:r>
            <a:pPr indent="0" marL="0">
              <a:buNone/>
            </a:pPr>
            <a:r>
              <a:rPr lang="en-US" sz="1500" dirty="0">
                <a:solidFill>
                  <a:schemeClr val="tx1"/>
                </a:solidFill>
              </a:rPr>
              <a:t>MiniLM ne lit que 128 tokens : passages ramenés à 500 caractères.</a:t>
            </a:r>
            <a:endParaRPr lang="en-US" sz="1500" dirty="0"/>
          </a:p>
        </p:txBody>
      </p:sp>
      <p:sp>
        <p:nvSpPr>
          <p:cNvPr id="15" name="Difficulté 4"/>
          <p:cNvSpPr/>
          <p:nvPr/>
        </p:nvSpPr>
        <p:spPr>
          <a:xfrm>
            <a:off x="6217920" y="3749040"/>
            <a:ext cx="5394960" cy="2103120"/>
          </a:xfrm>
          <a:prstGeom prst="roundRect">
            <a:avLst>
              <a:gd name="adj" fmla="val 5217"/>
            </a:avLst>
          </a:prstGeom>
          <a:solidFill>
            <a:schemeClr val="bg2"/>
          </a:solidFill>
          <a:ln/>
        </p:spPr>
      </p:sp>
      <p:pic>
        <p:nvPicPr>
          <p:cNvPr id="16" name="Icône difficulté 4" descr="Difficulté">    </p:cNvPr>
          <p:cNvPicPr>
            <a:picLocks noChangeAspect="1"/>
          </p:cNvPicPr>
          <p:nvPr/>
        </p:nvPicPr>
        <p:blipFill>
          <a:blip r:embed="rId4"/>
          <a:stretch>
            <a:fillRect/>
          </a:stretch>
        </p:blipFill>
        <p:spPr>
          <a:xfrm>
            <a:off x="6537960" y="4096512"/>
            <a:ext cx="365760" cy="365760"/>
          </a:xfrm>
          <a:prstGeom prst="rect">
            <a:avLst/>
          </a:prstGeom>
        </p:spPr>
      </p:pic>
      <p:sp>
        <p:nvSpPr>
          <p:cNvPr id="17" name="Problème 4"/>
          <p:cNvSpPr txBox="1"/>
          <p:nvPr/>
        </p:nvSpPr>
        <p:spPr>
          <a:xfrm>
            <a:off x="7086600" y="3977640"/>
            <a:ext cx="4297680" cy="594360"/>
          </a:xfrm>
          <a:prstGeom prst="rect">
            <a:avLst/>
          </a:prstGeom>
          <a:noFill/>
          <a:ln/>
        </p:spPr>
        <p:txBody>
          <a:bodyPr wrap="square" lIns="0" tIns="0" rIns="0" bIns="0" rtlCol="0" anchor="ctr"/>
          <a:lstStyle/>
          <a:p>
            <a:pPr indent="0" marL="0">
              <a:buNone/>
            </a:pPr>
            <a:r>
              <a:rPr lang="en-US" sz="1800" b="1" dirty="0">
                <a:solidFill>
                  <a:schemeClr val="tx2"/>
                </a:solidFill>
              </a:rPr>
              <a:t>Manque de mémoire de la VM Docker</a:t>
            </a:r>
            <a:endParaRPr lang="en-US" sz="1800" dirty="0"/>
          </a:p>
        </p:txBody>
      </p:sp>
      <p:sp>
        <p:nvSpPr>
          <p:cNvPr id="18" name="Solution 4"/>
          <p:cNvSpPr txBox="1"/>
          <p:nvPr/>
        </p:nvSpPr>
        <p:spPr>
          <a:xfrm>
            <a:off x="6537960" y="4709160"/>
            <a:ext cx="4800600" cy="960120"/>
          </a:xfrm>
          <a:prstGeom prst="rect">
            <a:avLst/>
          </a:prstGeom>
          <a:noFill/>
          <a:ln/>
        </p:spPr>
        <p:txBody>
          <a:bodyPr wrap="square" lIns="0" tIns="0" rIns="0" bIns="0" rtlCol="0" anchor="t"/>
          <a:lstStyle/>
          <a:p>
            <a:pPr indent="0" marL="0">
              <a:buNone/>
            </a:pPr>
            <a:r>
              <a:rPr lang="en-US" sz="1500" b="1" dirty="0">
                <a:solidFill>
                  <a:schemeClr val="accent4"/>
                </a:solidFill>
              </a:rPr>
              <a:t>Solution : </a:t>
            </a:r>
            <a:pPr indent="0" marL="0">
              <a:buNone/>
            </a:pPr>
            <a:r>
              <a:rPr lang="en-US" sz="1500" dirty="0">
                <a:solidFill>
                  <a:schemeClr val="tx1"/>
                </a:solidFill>
              </a:rPr>
              <a:t>Diagnostic via memory.events ; nombre de workers rendu paramétrable.</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Limites et perspectives</a:t>
            </a:r>
            <a:endParaRPr lang="en-US" sz="3000" dirty="0"/>
          </a:p>
        </p:txBody>
      </p:sp>
      <p:sp>
        <p:nvSpPr>
          <p:cNvPr id="3" name="Carte limites"/>
          <p:cNvSpPr/>
          <p:nvPr/>
        </p:nvSpPr>
        <p:spPr>
          <a:xfrm>
            <a:off x="548640" y="1371600"/>
            <a:ext cx="5394960" cy="3383280"/>
          </a:xfrm>
          <a:prstGeom prst="roundRect">
            <a:avLst>
              <a:gd name="adj" fmla="val 3243"/>
            </a:avLst>
          </a:prstGeom>
          <a:solidFill>
            <a:schemeClr val="bg2"/>
          </a:solidFill>
          <a:ln/>
        </p:spPr>
      </p:sp>
      <p:sp>
        <p:nvSpPr>
          <p:cNvPr id="4" name="Titre limites"/>
          <p:cNvSpPr txBox="1"/>
          <p:nvPr/>
        </p:nvSpPr>
        <p:spPr>
          <a:xfrm>
            <a:off x="868680" y="1600200"/>
            <a:ext cx="4754880" cy="457200"/>
          </a:xfrm>
          <a:prstGeom prst="rect">
            <a:avLst/>
          </a:prstGeom>
          <a:noFill/>
          <a:ln/>
        </p:spPr>
        <p:txBody>
          <a:bodyPr wrap="square" lIns="0" tIns="0" rIns="0" bIns="0" rtlCol="0" anchor="ctr"/>
          <a:lstStyle/>
          <a:p>
            <a:pPr indent="0" marL="0">
              <a:buNone/>
            </a:pPr>
            <a:r>
              <a:rPr lang="en-US" sz="2000" b="1" dirty="0">
                <a:solidFill>
                  <a:schemeClr val="tx2"/>
                </a:solidFill>
              </a:rPr>
              <a:t>Limites</a:t>
            </a:r>
            <a:endParaRPr lang="en-US" sz="2000" dirty="0"/>
          </a:p>
        </p:txBody>
      </p:sp>
      <p:sp>
        <p:nvSpPr>
          <p:cNvPr id="5" name="Liste limites"/>
          <p:cNvSpPr txBox="1"/>
          <p:nvPr/>
        </p:nvSpPr>
        <p:spPr>
          <a:xfrm>
            <a:off x="868680" y="2194560"/>
            <a:ext cx="480060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2 000 articles indexés sur 2,6 millions</a:t>
            </a:r>
            <a:endParaRPr lang="en-US" sz="1600" dirty="0"/>
          </a:p>
          <a:p>
            <a:pPr marL="342900" indent="-342900">
              <a:spcAft>
                <a:spcPts val="800"/>
              </a:spcAft>
              <a:buSzPct val="100000"/>
              <a:buChar char="•"/>
            </a:pPr>
            <a:r>
              <a:rPr lang="en-US" sz="1600" dirty="0">
                <a:solidFill>
                  <a:schemeClr val="tx1"/>
                </a:solidFill>
              </a:rPr>
              <a:t>Passage à l'échelle non mesuré (8 Go de mémoire Docker)</a:t>
            </a:r>
            <a:endParaRPr lang="en-US" sz="1600" dirty="0"/>
          </a:p>
          <a:p>
            <a:pPr marL="342900" indent="-342900">
              <a:spcAft>
                <a:spcPts val="800"/>
              </a:spcAft>
              <a:buSzPct val="100000"/>
              <a:buChar char="•"/>
            </a:pPr>
            <a:r>
              <a:rPr lang="en-US" sz="1600" dirty="0">
                <a:solidFill>
                  <a:schemeClr val="tx1"/>
                </a:solidFill>
              </a:rPr>
              <a:t>Évaluation sur 60 questions synthétiques</a:t>
            </a:r>
            <a:endParaRPr lang="en-US" sz="1600" dirty="0"/>
          </a:p>
          <a:p>
            <a:pPr marL="342900" indent="-342900">
              <a:spcAft>
                <a:spcPts val="800"/>
              </a:spcAft>
              <a:buSzPct val="100000"/>
              <a:buChar char="•"/>
            </a:pPr>
            <a:r>
              <a:rPr lang="en-US" sz="1600" dirty="0">
                <a:solidFill>
                  <a:schemeClr val="tx1"/>
                </a:solidFill>
              </a:rPr>
              <a:t>Environ 8 s par réponse sur un ordinateur portable</a:t>
            </a:r>
            <a:endParaRPr lang="en-US" sz="1600" dirty="0"/>
          </a:p>
        </p:txBody>
      </p:sp>
      <p:sp>
        <p:nvSpPr>
          <p:cNvPr id="6" name="Carte perspectives"/>
          <p:cNvSpPr/>
          <p:nvPr/>
        </p:nvSpPr>
        <p:spPr>
          <a:xfrm>
            <a:off x="6217920" y="1371600"/>
            <a:ext cx="5394960" cy="3383280"/>
          </a:xfrm>
          <a:prstGeom prst="roundRect">
            <a:avLst>
              <a:gd name="adj" fmla="val 3243"/>
            </a:avLst>
          </a:prstGeom>
          <a:solidFill>
            <a:schemeClr val="tx2"/>
          </a:solidFill>
          <a:ln/>
        </p:spPr>
      </p:sp>
      <p:sp>
        <p:nvSpPr>
          <p:cNvPr id="7" name="Titre perspectives"/>
          <p:cNvSpPr txBox="1"/>
          <p:nvPr/>
        </p:nvSpPr>
        <p:spPr>
          <a:xfrm>
            <a:off x="6537960" y="1600200"/>
            <a:ext cx="4754880" cy="457200"/>
          </a:xfrm>
          <a:prstGeom prst="rect">
            <a:avLst/>
          </a:prstGeom>
          <a:noFill/>
          <a:ln/>
        </p:spPr>
        <p:txBody>
          <a:bodyPr wrap="square" lIns="0" tIns="0" rIns="0" bIns="0" rtlCol="0" anchor="ctr"/>
          <a:lstStyle/>
          <a:p>
            <a:pPr indent="0" marL="0">
              <a:buNone/>
            </a:pPr>
            <a:r>
              <a:rPr lang="en-US" sz="2000" b="1" dirty="0">
                <a:solidFill>
                  <a:schemeClr val="accent1"/>
                </a:solidFill>
              </a:rPr>
              <a:t>Perspectives</a:t>
            </a:r>
            <a:endParaRPr lang="en-US" sz="2000" dirty="0"/>
          </a:p>
        </p:txBody>
      </p:sp>
      <p:sp>
        <p:nvSpPr>
          <p:cNvPr id="8" name="Liste perspectives"/>
          <p:cNvSpPr txBox="1"/>
          <p:nvPr/>
        </p:nvSpPr>
        <p:spPr>
          <a:xfrm>
            <a:off x="6537960" y="2194560"/>
            <a:ext cx="480060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Cluster Ray sur plusieurs machines (KubeRay) et mesure de 1 à 8 workers</a:t>
            </a:r>
            <a:endParaRPr lang="en-US" sz="1600" dirty="0"/>
          </a:p>
          <a:p>
            <a:pPr marL="342900" indent="-342900">
              <a:spcAft>
                <a:spcPts val="800"/>
              </a:spcAft>
              <a:buSzPct val="100000"/>
              <a:buChar char="•"/>
            </a:pPr>
            <a:r>
              <a:rPr lang="en-US" sz="1600" dirty="0">
                <a:solidFill>
                  <a:schemeClr val="bg1"/>
                </a:solidFill>
              </a:rPr>
              <a:t>Embeddings sur GPU</a:t>
            </a:r>
            <a:endParaRPr lang="en-US" sz="1600" dirty="0"/>
          </a:p>
          <a:p>
            <a:pPr marL="342900" indent="-342900">
              <a:spcAft>
                <a:spcPts val="800"/>
              </a:spcAft>
              <a:buSzPct val="100000"/>
              <a:buChar char="•"/>
            </a:pPr>
            <a:r>
              <a:rPr lang="en-US" sz="1600" dirty="0">
                <a:solidFill>
                  <a:schemeClr val="bg1"/>
                </a:solidFill>
              </a:rPr>
              <a:t>Recherche hybride et re-classement des résultats</a:t>
            </a:r>
            <a:endParaRPr lang="en-US" sz="1600" dirty="0"/>
          </a:p>
          <a:p>
            <a:pPr marL="342900" indent="-342900">
              <a:spcAft>
                <a:spcPts val="800"/>
              </a:spcAft>
              <a:buSzPct val="100000"/>
              <a:buChar char="•"/>
            </a:pPr>
            <a:r>
              <a:rPr lang="en-US" sz="1600" dirty="0">
                <a:solidFill>
                  <a:schemeClr val="bg1"/>
                </a:solidFill>
              </a:rPr>
              <a:t>Jeu de questions écrites à la main</a:t>
            </a:r>
            <a:endParaRPr lang="en-US" sz="1600" dirty="0"/>
          </a:p>
          <a:p>
            <a:pPr marL="342900" indent="-342900">
              <a:spcAft>
                <a:spcPts val="800"/>
              </a:spcAft>
              <a:buSzPct val="100000"/>
              <a:buChar char="•"/>
            </a:pPr>
            <a:r>
              <a:rPr lang="en-US" sz="1600" dirty="0">
                <a:solidFill>
                  <a:schemeClr val="bg1"/>
                </a:solidFill>
              </a:rPr>
              <a:t>Mise à jour avec les nouveaux dumps Wikipédia</a:t>
            </a:r>
            <a:endParaRPr lang="en-US" sz="1600" dirty="0"/>
          </a:p>
        </p:txBody>
      </p:sp>
      <p:sp>
        <p:nvSpPr>
          <p:cNvPr id="9" name="Message clé"/>
          <p:cNvSpPr txBox="1"/>
          <p:nvPr/>
        </p:nvSpPr>
        <p:spPr>
          <a:xfrm>
            <a:off x="548640" y="5120640"/>
            <a:ext cx="11064240" cy="822960"/>
          </a:xfrm>
          <a:prstGeom prst="rect">
            <a:avLst/>
          </a:prstGeom>
          <a:noFill/>
          <a:ln/>
        </p:spPr>
        <p:txBody>
          <a:bodyPr wrap="square" lIns="0" tIns="0" rIns="0" bIns="0" rtlCol="0" anchor="ctr"/>
          <a:lstStyle/>
          <a:p>
            <a:pPr indent="0" marL="0">
              <a:buNone/>
            </a:pPr>
            <a:r>
              <a:rPr lang="en-US" sz="1800" i="1" dirty="0">
                <a:solidFill>
                  <a:schemeClr val="accent2"/>
                </a:solidFill>
              </a:rPr>
              <a:t>L'architecture est prête : ajouter des workers, des fichiers du corpus ou de nouvelles sources ne demande que de changer des paramètres.</a:t>
            </a:r>
            <a:endParaRPr lang="en-US" sz="18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rPr>
              <a:t>L'équipe</a:t>
            </a:r>
            <a:endParaRPr lang="en-US" sz="3000" dirty="0"/>
          </a:p>
        </p:txBody>
      </p:sp>
      <p:sp>
        <p:nvSpPr>
          <p:cNvPr id="3" name="Membre 1"/>
          <p:cNvSpPr/>
          <p:nvPr/>
        </p:nvSpPr>
        <p:spPr>
          <a:xfrm>
            <a:off x="548640" y="1371600"/>
            <a:ext cx="2606040" cy="2103120"/>
          </a:xfrm>
          <a:prstGeom prst="roundRect">
            <a:avLst>
              <a:gd name="adj" fmla="val 5217"/>
            </a:avLst>
          </a:prstGeom>
          <a:solidFill>
            <a:schemeClr val="bg2"/>
          </a:solidFill>
          <a:ln/>
        </p:spPr>
      </p:sp>
      <p:sp>
        <p:nvSpPr>
          <p:cNvPr id="4" name="Pastille 1"/>
          <p:cNvSpPr/>
          <p:nvPr/>
        </p:nvSpPr>
        <p:spPr>
          <a:xfrm>
            <a:off x="822960" y="1645920"/>
            <a:ext cx="685800" cy="685800"/>
          </a:xfrm>
          <a:prstGeom prst="ellipse">
            <a:avLst/>
          </a:prstGeom>
          <a:solidFill>
            <a:schemeClr val="accent1"/>
          </a:solidFill>
          <a:ln/>
        </p:spPr>
      </p:sp>
      <p:sp>
        <p:nvSpPr>
          <p:cNvPr id="5" name="Initiales 1"/>
          <p:cNvSpPr txBox="1"/>
          <p:nvPr/>
        </p:nvSpPr>
        <p:spPr>
          <a:xfrm>
            <a:off x="822960" y="164592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SA</a:t>
            </a:r>
            <a:endParaRPr lang="en-US" sz="1800" dirty="0"/>
          </a:p>
        </p:txBody>
      </p:sp>
      <p:sp>
        <p:nvSpPr>
          <p:cNvPr id="6" name="Nom 1"/>
          <p:cNvSpPr txBox="1"/>
          <p:nvPr/>
        </p:nvSpPr>
        <p:spPr>
          <a:xfrm>
            <a:off x="822960" y="2468880"/>
            <a:ext cx="2148840" cy="868680"/>
          </a:xfrm>
          <a:prstGeom prst="rect">
            <a:avLst/>
          </a:prstGeom>
          <a:noFill/>
          <a:ln/>
        </p:spPr>
        <p:txBody>
          <a:bodyPr wrap="square" lIns="0" tIns="0" rIns="0" bIns="0" rtlCol="0" anchor="t"/>
          <a:lstStyle/>
          <a:p>
            <a:pPr indent="0" marL="0">
              <a:buNone/>
            </a:pPr>
            <a:r>
              <a:rPr lang="en-US" sz="1500" b="1" dirty="0">
                <a:solidFill>
                  <a:schemeClr val="tx2"/>
                </a:solidFill>
              </a:rPr>
              <a:t>Salma Abarkane</a:t>
            </a:r>
            <a:endParaRPr lang="en-US" sz="1500" dirty="0"/>
          </a:p>
          <a:p>
            <a:pPr indent="0" marL="0">
              <a:buNone/>
            </a:pPr>
            <a:r>
              <a:rPr lang="en-US" sz="1300" dirty="0">
                <a:solidFill>
                  <a:schemeClr val="tx1"/>
                </a:solidFill>
              </a:rPr>
              <a:t>Cheffe de projet, architecture</a:t>
            </a:r>
            <a:endParaRPr lang="en-US" sz="1500" dirty="0"/>
          </a:p>
        </p:txBody>
      </p:sp>
      <p:sp>
        <p:nvSpPr>
          <p:cNvPr id="7" name="Membre 2"/>
          <p:cNvSpPr/>
          <p:nvPr/>
        </p:nvSpPr>
        <p:spPr>
          <a:xfrm>
            <a:off x="3383280" y="1371600"/>
            <a:ext cx="2606040" cy="2103120"/>
          </a:xfrm>
          <a:prstGeom prst="roundRect">
            <a:avLst>
              <a:gd name="adj" fmla="val 5217"/>
            </a:avLst>
          </a:prstGeom>
          <a:solidFill>
            <a:schemeClr val="bg2"/>
          </a:solidFill>
          <a:ln/>
        </p:spPr>
      </p:sp>
      <p:sp>
        <p:nvSpPr>
          <p:cNvPr id="8" name="Pastille 2"/>
          <p:cNvSpPr/>
          <p:nvPr/>
        </p:nvSpPr>
        <p:spPr>
          <a:xfrm>
            <a:off x="3657600" y="1645920"/>
            <a:ext cx="685800" cy="685800"/>
          </a:xfrm>
          <a:prstGeom prst="ellipse">
            <a:avLst/>
          </a:prstGeom>
          <a:solidFill>
            <a:schemeClr val="accent1"/>
          </a:solidFill>
          <a:ln/>
        </p:spPr>
      </p:sp>
      <p:sp>
        <p:nvSpPr>
          <p:cNvPr id="9" name="Initiales 2"/>
          <p:cNvSpPr txBox="1"/>
          <p:nvPr/>
        </p:nvSpPr>
        <p:spPr>
          <a:xfrm>
            <a:off x="3657600" y="164592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RB</a:t>
            </a:r>
            <a:endParaRPr lang="en-US" sz="1800" dirty="0"/>
          </a:p>
        </p:txBody>
      </p:sp>
      <p:sp>
        <p:nvSpPr>
          <p:cNvPr id="10" name="Nom 2"/>
          <p:cNvSpPr txBox="1"/>
          <p:nvPr/>
        </p:nvSpPr>
        <p:spPr>
          <a:xfrm>
            <a:off x="3657600" y="2468880"/>
            <a:ext cx="2148840" cy="868680"/>
          </a:xfrm>
          <a:prstGeom prst="rect">
            <a:avLst/>
          </a:prstGeom>
          <a:noFill/>
          <a:ln/>
        </p:spPr>
        <p:txBody>
          <a:bodyPr wrap="square" lIns="0" tIns="0" rIns="0" bIns="0" rtlCol="0" anchor="t"/>
          <a:lstStyle/>
          <a:p>
            <a:pPr indent="0" marL="0">
              <a:buNone/>
            </a:pPr>
            <a:r>
              <a:rPr lang="en-US" sz="1500" b="1" dirty="0">
                <a:solidFill>
                  <a:schemeClr val="tx2"/>
                </a:solidFill>
              </a:rPr>
              <a:t>Rania Bouaroua</a:t>
            </a:r>
            <a:endParaRPr lang="en-US" sz="1500" dirty="0"/>
          </a:p>
          <a:p>
            <a:pPr indent="0" marL="0">
              <a:buNone/>
            </a:pPr>
            <a:r>
              <a:rPr lang="en-US" sz="1300" dirty="0">
                <a:solidFill>
                  <a:schemeClr val="tx1"/>
                </a:solidFill>
              </a:rPr>
              <a:t>Collecte · Airbyte</a:t>
            </a:r>
            <a:endParaRPr lang="en-US" sz="1500" dirty="0"/>
          </a:p>
        </p:txBody>
      </p:sp>
      <p:sp>
        <p:nvSpPr>
          <p:cNvPr id="11" name="Membre 3"/>
          <p:cNvSpPr/>
          <p:nvPr/>
        </p:nvSpPr>
        <p:spPr>
          <a:xfrm>
            <a:off x="6217920" y="1371600"/>
            <a:ext cx="2606040" cy="2103120"/>
          </a:xfrm>
          <a:prstGeom prst="roundRect">
            <a:avLst>
              <a:gd name="adj" fmla="val 5217"/>
            </a:avLst>
          </a:prstGeom>
          <a:solidFill>
            <a:schemeClr val="bg2"/>
          </a:solidFill>
          <a:ln/>
        </p:spPr>
      </p:sp>
      <p:sp>
        <p:nvSpPr>
          <p:cNvPr id="12" name="Pastille 3"/>
          <p:cNvSpPr/>
          <p:nvPr/>
        </p:nvSpPr>
        <p:spPr>
          <a:xfrm>
            <a:off x="6492240" y="1645920"/>
            <a:ext cx="685800" cy="685800"/>
          </a:xfrm>
          <a:prstGeom prst="ellipse">
            <a:avLst/>
          </a:prstGeom>
          <a:solidFill>
            <a:schemeClr val="accent1"/>
          </a:solidFill>
          <a:ln/>
        </p:spPr>
      </p:sp>
      <p:sp>
        <p:nvSpPr>
          <p:cNvPr id="13" name="Initiales 3"/>
          <p:cNvSpPr txBox="1"/>
          <p:nvPr/>
        </p:nvSpPr>
        <p:spPr>
          <a:xfrm>
            <a:off x="6492240" y="164592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SB</a:t>
            </a:r>
            <a:endParaRPr lang="en-US" sz="1800" dirty="0"/>
          </a:p>
        </p:txBody>
      </p:sp>
      <p:sp>
        <p:nvSpPr>
          <p:cNvPr id="14" name="Nom 3"/>
          <p:cNvSpPr txBox="1"/>
          <p:nvPr/>
        </p:nvSpPr>
        <p:spPr>
          <a:xfrm>
            <a:off x="6492240" y="2468880"/>
            <a:ext cx="2148840" cy="868680"/>
          </a:xfrm>
          <a:prstGeom prst="rect">
            <a:avLst/>
          </a:prstGeom>
          <a:noFill/>
          <a:ln/>
        </p:spPr>
        <p:txBody>
          <a:bodyPr wrap="square" lIns="0" tIns="0" rIns="0" bIns="0" rtlCol="0" anchor="t"/>
          <a:lstStyle/>
          <a:p>
            <a:pPr indent="0" marL="0">
              <a:buNone/>
            </a:pPr>
            <a:r>
              <a:rPr lang="en-US" sz="1500" b="1" dirty="0">
                <a:solidFill>
                  <a:schemeClr val="tx2"/>
                </a:solidFill>
              </a:rPr>
              <a:t>Salma Benmouma</a:t>
            </a:r>
            <a:endParaRPr lang="en-US" sz="1500" dirty="0"/>
          </a:p>
          <a:p>
            <a:pPr indent="0" marL="0">
              <a:buNone/>
            </a:pPr>
            <a:r>
              <a:rPr lang="en-US" sz="1300" dirty="0">
                <a:solidFill>
                  <a:schemeClr val="tx1"/>
                </a:solidFill>
              </a:rPr>
              <a:t>Orchestration · Prefect</a:t>
            </a:r>
            <a:endParaRPr lang="en-US" sz="1500" dirty="0"/>
          </a:p>
        </p:txBody>
      </p:sp>
      <p:sp>
        <p:nvSpPr>
          <p:cNvPr id="15" name="Membre 4"/>
          <p:cNvSpPr/>
          <p:nvPr/>
        </p:nvSpPr>
        <p:spPr>
          <a:xfrm>
            <a:off x="9052560" y="1371600"/>
            <a:ext cx="2606040" cy="2103120"/>
          </a:xfrm>
          <a:prstGeom prst="roundRect">
            <a:avLst>
              <a:gd name="adj" fmla="val 5217"/>
            </a:avLst>
          </a:prstGeom>
          <a:solidFill>
            <a:schemeClr val="bg2"/>
          </a:solidFill>
          <a:ln/>
        </p:spPr>
      </p:sp>
      <p:sp>
        <p:nvSpPr>
          <p:cNvPr id="16" name="Pastille 4"/>
          <p:cNvSpPr/>
          <p:nvPr/>
        </p:nvSpPr>
        <p:spPr>
          <a:xfrm>
            <a:off x="9326880" y="1645920"/>
            <a:ext cx="685800" cy="685800"/>
          </a:xfrm>
          <a:prstGeom prst="ellipse">
            <a:avLst/>
          </a:prstGeom>
          <a:solidFill>
            <a:schemeClr val="accent1"/>
          </a:solidFill>
          <a:ln/>
        </p:spPr>
      </p:sp>
      <p:sp>
        <p:nvSpPr>
          <p:cNvPr id="17" name="Initiales 4"/>
          <p:cNvSpPr txBox="1"/>
          <p:nvPr/>
        </p:nvSpPr>
        <p:spPr>
          <a:xfrm>
            <a:off x="9326880" y="164592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OG</a:t>
            </a:r>
            <a:endParaRPr lang="en-US" sz="1800" dirty="0"/>
          </a:p>
        </p:txBody>
      </p:sp>
      <p:sp>
        <p:nvSpPr>
          <p:cNvPr id="18" name="Nom 4"/>
          <p:cNvSpPr txBox="1"/>
          <p:nvPr/>
        </p:nvSpPr>
        <p:spPr>
          <a:xfrm>
            <a:off x="9326880" y="2468880"/>
            <a:ext cx="2148840" cy="868680"/>
          </a:xfrm>
          <a:prstGeom prst="rect">
            <a:avLst/>
          </a:prstGeom>
          <a:noFill/>
          <a:ln/>
        </p:spPr>
        <p:txBody>
          <a:bodyPr wrap="square" lIns="0" tIns="0" rIns="0" bIns="0" rtlCol="0" anchor="t"/>
          <a:lstStyle/>
          <a:p>
            <a:pPr indent="0" marL="0">
              <a:buNone/>
            </a:pPr>
            <a:r>
              <a:rPr lang="en-US" sz="1500" b="1" dirty="0">
                <a:solidFill>
                  <a:schemeClr val="tx2"/>
                </a:solidFill>
              </a:rPr>
              <a:t>Oumaima Gassi</a:t>
            </a:r>
            <a:endParaRPr lang="en-US" sz="1500" dirty="0"/>
          </a:p>
          <a:p>
            <a:pPr indent="0" marL="0">
              <a:buNone/>
            </a:pPr>
            <a:r>
              <a:rPr lang="en-US" sz="1300" dirty="0">
                <a:solidFill>
                  <a:schemeClr val="tx1"/>
                </a:solidFill>
              </a:rPr>
              <a:t>Stockage · PostgreSQL</a:t>
            </a:r>
            <a:endParaRPr lang="en-US" sz="1500" dirty="0"/>
          </a:p>
        </p:txBody>
      </p:sp>
      <p:sp>
        <p:nvSpPr>
          <p:cNvPr id="19" name="Membre 5"/>
          <p:cNvSpPr/>
          <p:nvPr/>
        </p:nvSpPr>
        <p:spPr>
          <a:xfrm>
            <a:off x="548640" y="3749040"/>
            <a:ext cx="2606040" cy="2103120"/>
          </a:xfrm>
          <a:prstGeom prst="roundRect">
            <a:avLst>
              <a:gd name="adj" fmla="val 5217"/>
            </a:avLst>
          </a:prstGeom>
          <a:solidFill>
            <a:schemeClr val="bg2"/>
          </a:solidFill>
          <a:ln/>
        </p:spPr>
      </p:sp>
      <p:sp>
        <p:nvSpPr>
          <p:cNvPr id="20" name="Pastille 5"/>
          <p:cNvSpPr/>
          <p:nvPr/>
        </p:nvSpPr>
        <p:spPr>
          <a:xfrm>
            <a:off x="822960" y="4023360"/>
            <a:ext cx="685800" cy="685800"/>
          </a:xfrm>
          <a:prstGeom prst="ellipse">
            <a:avLst/>
          </a:prstGeom>
          <a:solidFill>
            <a:schemeClr val="accent1"/>
          </a:solidFill>
          <a:ln/>
        </p:spPr>
      </p:sp>
      <p:sp>
        <p:nvSpPr>
          <p:cNvPr id="21" name="Initiales 5"/>
          <p:cNvSpPr txBox="1"/>
          <p:nvPr/>
        </p:nvSpPr>
        <p:spPr>
          <a:xfrm>
            <a:off x="822960" y="402336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IE</a:t>
            </a:r>
            <a:endParaRPr lang="en-US" sz="1800" dirty="0"/>
          </a:p>
        </p:txBody>
      </p:sp>
      <p:sp>
        <p:nvSpPr>
          <p:cNvPr id="22" name="Nom 5"/>
          <p:cNvSpPr txBox="1"/>
          <p:nvPr/>
        </p:nvSpPr>
        <p:spPr>
          <a:xfrm>
            <a:off x="822960" y="4846320"/>
            <a:ext cx="2148840" cy="868680"/>
          </a:xfrm>
          <a:prstGeom prst="rect">
            <a:avLst/>
          </a:prstGeom>
          <a:noFill/>
          <a:ln/>
        </p:spPr>
        <p:txBody>
          <a:bodyPr wrap="square" lIns="0" tIns="0" rIns="0" bIns="0" rtlCol="0" anchor="t"/>
          <a:lstStyle/>
          <a:p>
            <a:pPr indent="0" marL="0">
              <a:buNone/>
            </a:pPr>
            <a:r>
              <a:rPr lang="en-US" sz="1500" b="1" dirty="0">
                <a:solidFill>
                  <a:schemeClr val="tx2"/>
                </a:solidFill>
              </a:rPr>
              <a:t>Imad Eddine El Khorassani</a:t>
            </a:r>
            <a:endParaRPr lang="en-US" sz="1500" dirty="0"/>
          </a:p>
          <a:p>
            <a:pPr indent="0" marL="0">
              <a:buNone/>
            </a:pPr>
            <a:r>
              <a:rPr lang="en-US" sz="1300" dirty="0">
                <a:solidFill>
                  <a:schemeClr val="tx1"/>
                </a:solidFill>
              </a:rPr>
              <a:t>Stockage NoSQL · Qdrant</a:t>
            </a:r>
            <a:endParaRPr lang="en-US" sz="1500" dirty="0"/>
          </a:p>
        </p:txBody>
      </p:sp>
      <p:sp>
        <p:nvSpPr>
          <p:cNvPr id="23" name="Membre 6"/>
          <p:cNvSpPr/>
          <p:nvPr/>
        </p:nvSpPr>
        <p:spPr>
          <a:xfrm>
            <a:off x="3383280" y="3749040"/>
            <a:ext cx="2606040" cy="2103120"/>
          </a:xfrm>
          <a:prstGeom prst="roundRect">
            <a:avLst>
              <a:gd name="adj" fmla="val 5217"/>
            </a:avLst>
          </a:prstGeom>
          <a:solidFill>
            <a:schemeClr val="bg2"/>
          </a:solidFill>
          <a:ln/>
        </p:spPr>
      </p:sp>
      <p:sp>
        <p:nvSpPr>
          <p:cNvPr id="24" name="Pastille 6"/>
          <p:cNvSpPr/>
          <p:nvPr/>
        </p:nvSpPr>
        <p:spPr>
          <a:xfrm>
            <a:off x="3657600" y="4023360"/>
            <a:ext cx="685800" cy="685800"/>
          </a:xfrm>
          <a:prstGeom prst="ellipse">
            <a:avLst/>
          </a:prstGeom>
          <a:solidFill>
            <a:schemeClr val="accent1"/>
          </a:solidFill>
          <a:ln/>
        </p:spPr>
      </p:sp>
      <p:sp>
        <p:nvSpPr>
          <p:cNvPr id="25" name="Initiales 6"/>
          <p:cNvSpPr txBox="1"/>
          <p:nvPr/>
        </p:nvSpPr>
        <p:spPr>
          <a:xfrm>
            <a:off x="3657600" y="402336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MY</a:t>
            </a:r>
            <a:endParaRPr lang="en-US" sz="1800" dirty="0"/>
          </a:p>
        </p:txBody>
      </p:sp>
      <p:sp>
        <p:nvSpPr>
          <p:cNvPr id="26" name="Nom 6"/>
          <p:cNvSpPr txBox="1"/>
          <p:nvPr/>
        </p:nvSpPr>
        <p:spPr>
          <a:xfrm>
            <a:off x="3657600" y="4846320"/>
            <a:ext cx="2148840" cy="868680"/>
          </a:xfrm>
          <a:prstGeom prst="rect">
            <a:avLst/>
          </a:prstGeom>
          <a:noFill/>
          <a:ln/>
        </p:spPr>
        <p:txBody>
          <a:bodyPr wrap="square" lIns="0" tIns="0" rIns="0" bIns="0" rtlCol="0" anchor="t"/>
          <a:lstStyle/>
          <a:p>
            <a:pPr indent="0" marL="0">
              <a:buNone/>
            </a:pPr>
            <a:r>
              <a:rPr lang="en-US" sz="1500" b="1" dirty="0">
                <a:solidFill>
                  <a:schemeClr val="tx2"/>
                </a:solidFill>
              </a:rPr>
              <a:t>Mohammed Yassine Benmeziane</a:t>
            </a:r>
            <a:endParaRPr lang="en-US" sz="1500" dirty="0"/>
          </a:p>
          <a:p>
            <a:pPr indent="0" marL="0">
              <a:buNone/>
            </a:pPr>
            <a:r>
              <a:rPr lang="en-US" sz="1300" dirty="0">
                <a:solidFill>
                  <a:schemeClr val="tx1"/>
                </a:solidFill>
              </a:rPr>
              <a:t>Traitement · Ray</a:t>
            </a:r>
            <a:endParaRPr lang="en-US" sz="1500" dirty="0"/>
          </a:p>
        </p:txBody>
      </p:sp>
      <p:sp>
        <p:nvSpPr>
          <p:cNvPr id="27" name="Membre 7"/>
          <p:cNvSpPr/>
          <p:nvPr/>
        </p:nvSpPr>
        <p:spPr>
          <a:xfrm>
            <a:off x="6217920" y="3749040"/>
            <a:ext cx="2606040" cy="2103120"/>
          </a:xfrm>
          <a:prstGeom prst="roundRect">
            <a:avLst>
              <a:gd name="adj" fmla="val 5217"/>
            </a:avLst>
          </a:prstGeom>
          <a:solidFill>
            <a:schemeClr val="bg2"/>
          </a:solidFill>
          <a:ln/>
        </p:spPr>
      </p:sp>
      <p:sp>
        <p:nvSpPr>
          <p:cNvPr id="28" name="Pastille 7"/>
          <p:cNvSpPr/>
          <p:nvPr/>
        </p:nvSpPr>
        <p:spPr>
          <a:xfrm>
            <a:off x="6492240" y="4023360"/>
            <a:ext cx="685800" cy="685800"/>
          </a:xfrm>
          <a:prstGeom prst="ellipse">
            <a:avLst/>
          </a:prstGeom>
          <a:solidFill>
            <a:schemeClr val="accent1"/>
          </a:solidFill>
          <a:ln/>
        </p:spPr>
      </p:sp>
      <p:sp>
        <p:nvSpPr>
          <p:cNvPr id="29" name="Initiales 7"/>
          <p:cNvSpPr txBox="1"/>
          <p:nvPr/>
        </p:nvSpPr>
        <p:spPr>
          <a:xfrm>
            <a:off x="6492240" y="402336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AL</a:t>
            </a:r>
            <a:endParaRPr lang="en-US" sz="1800" dirty="0"/>
          </a:p>
        </p:txBody>
      </p:sp>
      <p:sp>
        <p:nvSpPr>
          <p:cNvPr id="30" name="Nom 7"/>
          <p:cNvSpPr txBox="1"/>
          <p:nvPr/>
        </p:nvSpPr>
        <p:spPr>
          <a:xfrm>
            <a:off x="6492240" y="4846320"/>
            <a:ext cx="2148840" cy="868680"/>
          </a:xfrm>
          <a:prstGeom prst="rect">
            <a:avLst/>
          </a:prstGeom>
          <a:noFill/>
          <a:ln/>
        </p:spPr>
        <p:txBody>
          <a:bodyPr wrap="square" lIns="0" tIns="0" rIns="0" bIns="0" rtlCol="0" anchor="t"/>
          <a:lstStyle/>
          <a:p>
            <a:pPr indent="0" marL="0">
              <a:buNone/>
            </a:pPr>
            <a:r>
              <a:rPr lang="en-US" sz="1500" b="1" dirty="0">
                <a:solidFill>
                  <a:schemeClr val="tx2"/>
                </a:solidFill>
              </a:rPr>
              <a:t>Anys Louzal</a:t>
            </a:r>
            <a:endParaRPr lang="en-US" sz="1500" dirty="0"/>
          </a:p>
          <a:p>
            <a:pPr indent="0" marL="0">
              <a:buNone/>
            </a:pPr>
            <a:r>
              <a:rPr lang="en-US" sz="1300" dirty="0">
                <a:solidFill>
                  <a:schemeClr val="tx1"/>
                </a:solidFill>
              </a:rPr>
              <a:t>Visualisation · Gradio</a:t>
            </a:r>
            <a:endParaRPr lang="en-US" sz="1500" dirty="0"/>
          </a:p>
        </p:txBody>
      </p:sp>
      <p:sp>
        <p:nvSpPr>
          <p:cNvPr id="31" name="Membre 8"/>
          <p:cNvSpPr/>
          <p:nvPr/>
        </p:nvSpPr>
        <p:spPr>
          <a:xfrm>
            <a:off x="9052560" y="3749040"/>
            <a:ext cx="2606040" cy="2103120"/>
          </a:xfrm>
          <a:prstGeom prst="roundRect">
            <a:avLst>
              <a:gd name="adj" fmla="val 5217"/>
            </a:avLst>
          </a:prstGeom>
          <a:solidFill>
            <a:schemeClr val="bg2"/>
          </a:solidFill>
          <a:ln/>
        </p:spPr>
      </p:sp>
      <p:sp>
        <p:nvSpPr>
          <p:cNvPr id="32" name="Pastille 8"/>
          <p:cNvSpPr/>
          <p:nvPr/>
        </p:nvSpPr>
        <p:spPr>
          <a:xfrm>
            <a:off x="9326880" y="4023360"/>
            <a:ext cx="685800" cy="685800"/>
          </a:xfrm>
          <a:prstGeom prst="ellipse">
            <a:avLst/>
          </a:prstGeom>
          <a:solidFill>
            <a:schemeClr val="accent1"/>
          </a:solidFill>
          <a:ln/>
        </p:spPr>
      </p:sp>
      <p:sp>
        <p:nvSpPr>
          <p:cNvPr id="33" name="Initiales 8"/>
          <p:cNvSpPr txBox="1"/>
          <p:nvPr/>
        </p:nvSpPr>
        <p:spPr>
          <a:xfrm>
            <a:off x="9326880" y="4023360"/>
            <a:ext cx="685800" cy="685800"/>
          </a:xfrm>
          <a:prstGeom prst="rect">
            <a:avLst/>
          </a:prstGeom>
          <a:noFill/>
          <a:ln/>
        </p:spPr>
        <p:txBody>
          <a:bodyPr wrap="square" lIns="0" tIns="0" rIns="0" bIns="0" rtlCol="0" anchor="ctr"/>
          <a:lstStyle/>
          <a:p>
            <a:pPr algn="ctr" indent="0" marL="0">
              <a:buNone/>
            </a:pPr>
            <a:r>
              <a:rPr lang="en-US" sz="1800" b="1" dirty="0">
                <a:solidFill>
                  <a:schemeClr val="tx2"/>
                </a:solidFill>
              </a:rPr>
              <a:t>MA</a:t>
            </a:r>
            <a:endParaRPr lang="en-US" sz="1800" dirty="0"/>
          </a:p>
        </p:txBody>
      </p:sp>
      <p:sp>
        <p:nvSpPr>
          <p:cNvPr id="34" name="Nom 8"/>
          <p:cNvSpPr txBox="1"/>
          <p:nvPr/>
        </p:nvSpPr>
        <p:spPr>
          <a:xfrm>
            <a:off x="9326880" y="4846320"/>
            <a:ext cx="2148840" cy="868680"/>
          </a:xfrm>
          <a:prstGeom prst="rect">
            <a:avLst/>
          </a:prstGeom>
          <a:noFill/>
          <a:ln/>
        </p:spPr>
        <p:txBody>
          <a:bodyPr wrap="square" lIns="0" tIns="0" rIns="0" bIns="0" rtlCol="0" anchor="t"/>
          <a:lstStyle/>
          <a:p>
            <a:pPr indent="0" marL="0">
              <a:buNone/>
            </a:pPr>
            <a:r>
              <a:rPr lang="en-US" sz="1500" b="1" dirty="0">
                <a:solidFill>
                  <a:schemeClr val="tx2"/>
                </a:solidFill>
              </a:rPr>
              <a:t>Mohamed Anouar Faress</a:t>
            </a:r>
            <a:endParaRPr lang="en-US" sz="1500" dirty="0"/>
          </a:p>
          <a:p>
            <a:pPr indent="0" marL="0">
              <a:buNone/>
            </a:pPr>
            <a:r>
              <a:rPr lang="en-US" sz="1300" dirty="0">
                <a:solidFill>
                  <a:schemeClr val="tx1"/>
                </a:solidFill>
              </a:rPr>
              <a:t>RAG et évaluation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57200"/>
          </a:xfrm>
          <a:prstGeom prst="rect">
            <a:avLst/>
          </a:prstGeom>
          <a:noFill/>
          <a:ln/>
        </p:spPr>
        <p:txBody>
          <a:bodyPr wrap="square" lIns="0" tIns="0" rIns="0" bIns="0" rtlCol="0"/>
          <a:lstStyle/>
          <a:p>
            <a:pPr algn="l" indent="0" marL="0">
              <a:buNone/>
            </a:pPr>
            <a:r>
              <a:rPr lang="en-US" sz="1400" b="1" spc="300" kern="0" dirty="0">
                <a:solidFill>
                  <a:schemeClr val="accent1"/>
                </a:solidFill>
              </a:rPr>
              <a:t>MERCI POUR VOTRE ATTENTION</a:t>
            </a:r>
            <a:endParaRPr lang="en-US" sz="1400" dirty="0"/>
          </a:p>
        </p:txBody>
      </p:sp>
      <p:sp>
        <p:nvSpPr>
          <p:cNvPr id="3" name="Text 0"/>
          <p:cNvSpPr/>
          <p:nvPr>
            <p:ph idx="101" type="title" hasCustomPrompt="1"/>
          </p:nvPr>
        </p:nvSpPr>
        <p:spPr>
          <a:xfrm>
            <a:off x="731520" y="1920240"/>
            <a:ext cx="10698480" cy="1737360"/>
          </a:xfrm>
          <a:prstGeom prst="rect">
            <a:avLst/>
          </a:prstGeom>
          <a:noFill/>
          <a:ln/>
        </p:spPr>
        <p:txBody>
          <a:bodyPr wrap="square" lIns="0" tIns="0" rIns="0" bIns="0" rtlCol="0" anchor="t"/>
          <a:lstStyle/>
          <a:p>
            <a:pPr algn="l" indent="0" marL="0">
              <a:buNone/>
            </a:pPr>
            <a:r>
              <a:rPr lang="en-US" sz="4400" b="1" dirty="0">
                <a:solidFill>
                  <a:schemeClr val="bg1"/>
                </a:solidFill>
              </a:rPr>
              <a:t>Place à la démo</a:t>
            </a:r>
            <a:endParaRPr lang="en-US" sz="4400" dirty="0"/>
          </a:p>
        </p:txBody>
      </p:sp>
      <p:sp>
        <p:nvSpPr>
          <p:cNvPr id="4" name="Text 0"/>
          <p:cNvSpPr/>
          <p:nvPr>
            <p:ph idx="102" type="body" hasCustomPrompt="1"/>
          </p:nvPr>
        </p:nvSpPr>
        <p:spPr>
          <a:xfrm>
            <a:off x="731520" y="3840480"/>
            <a:ext cx="10698480" cy="1097280"/>
          </a:xfrm>
          <a:prstGeom prst="rect">
            <a:avLst/>
          </a:prstGeom>
          <a:noFill/>
          <a:ln/>
        </p:spPr>
        <p:txBody>
          <a:bodyPr wrap="square" lIns="0" tIns="0" rIns="0" bIns="0" rtlCol="0" anchor="t"/>
          <a:lstStyle/>
          <a:p>
            <a:pPr algn="l" indent="0" marL="0">
              <a:buNone/>
            </a:pPr>
            <a:r>
              <a:rPr lang="en-US" sz="2000" dirty="0">
                <a:solidFill>
                  <a:schemeClr val="accent5"/>
                </a:solidFill>
              </a:rPr>
              <a:t>Gradio : localhost:7860 · Prefect : localhost:4200 · Ray : localhost:8265 · Qdrant : localhost:6333/dashboard</a:t>
            </a:r>
            <a:endParaRPr lang="en-US" sz="2000" dirty="0"/>
          </a:p>
        </p:txBody>
      </p:sp>
      <p:sp>
        <p:nvSpPr>
          <p:cNvPr id="5" name="Dépôt"/>
          <p:cNvSpPr txBox="1"/>
          <p:nvPr/>
        </p:nvSpPr>
        <p:spPr>
          <a:xfrm>
            <a:off x="731520" y="5669280"/>
            <a:ext cx="10698480" cy="457200"/>
          </a:xfrm>
          <a:prstGeom prst="rect">
            <a:avLst/>
          </a:prstGeom>
          <a:noFill/>
          <a:ln/>
        </p:spPr>
        <p:txBody>
          <a:bodyPr wrap="square" lIns="0" tIns="0" rIns="0" bIns="0" rtlCol="0" anchor="ctr"/>
          <a:lstStyle/>
          <a:p>
            <a:pPr indent="0" marL="0">
              <a:buNone/>
            </a:pPr>
            <a:r>
              <a:rPr lang="en-US" sz="1400" dirty="0">
                <a:solidFill>
                  <a:schemeClr val="accent5"/>
                </a:solidFill>
              </a:rPr>
              <a:t>Dépôt : github.com/Anyslouzal/projet-rag-bigdata</a:t>
            </a:r>
            <a:endParaRPr lang="en-US" sz="1400" dirty="0"/>
          </a:p>
        </p:txBody>
      </p:sp>
    </p:spTree>
  </p:cSld>
  <p:clrMapOvr>
    <a:masterClrMapping/>
  </p:clrMapOvr>
</p:sld>
</file>

<file path=ppt/theme/theme1.xml><?xml version="1.0" encoding="utf-8"?>
<a:theme xmlns:a="http://schemas.openxmlformats.org/drawingml/2006/main" name="Groupe 6 RAG">
  <a:themeElements>
    <a:clrScheme name="Groupe 6 RAG">
      <a:dk1>
        <a:srgbClr val="1B2A2F"/>
      </a:dk1>
      <a:lt1>
        <a:srgbClr val="FFFFFF"/>
      </a:lt1>
      <a:dk2>
        <a:srgbClr val="0B3C49"/>
      </a:dk2>
      <a:lt2>
        <a:srgbClr val="E8F1F2"/>
      </a:lt2>
      <a:accent1>
        <a:srgbClr val="F2A541"/>
      </a:accent1>
      <a:accent2>
        <a:srgbClr val="3E7C8C"/>
      </a:accent2>
      <a:accent3>
        <a:srgbClr val="5B6B70"/>
      </a:accent3>
      <a:accent4>
        <a:srgbClr val="C77A12"/>
      </a:accent4>
      <a:accent5>
        <a:srgbClr val="9FC2CA"/>
      </a:accent5>
      <a:accent6>
        <a:srgbClr val="D9E2E4"/>
      </a:accent6>
      <a:hlink>
        <a:srgbClr val="3E7C8C"/>
      </a:hlink>
      <a:folHlink>
        <a:srgbClr val="5B6B70"/>
      </a:folHlink>
    </a:clrScheme>
    <a:fontScheme name="Groupe 6 RAG">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Technologies Big Data avancées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Pipeline de recherche sémantique sur documents (RAG)</dc:title>
  <dc:subject>PptxGenJS Presentation</dc:subject>
  <dc:creator>Groupe 6</dc:creator>
  <cp:lastModifiedBy>Groupe 6</cp:lastModifiedBy>
  <cp:revision>1</cp:revision>
  <dcterms:created xsi:type="dcterms:W3CDTF">2026-10-25T15:08:39Z</dcterms:created>
  <dcterms:modified xsi:type="dcterms:W3CDTF">2026-10-25T15:08:39Z</dcterms:modified>
</cp:coreProperties>
</file>